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3" d="100"/>
          <a:sy n="113" d="100"/>
        </p:scale>
        <p:origin x="39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c:style val="2"/>
  <c:chart>
    <c:autoTitleDeleted val="1"/>
    <c:plotArea>
      <c:layout/>
      <c:barChart>
        <c:barDir val="bar"/>
        <c:grouping val="clustered"/>
        <c:varyColors val="0"/>
        <c:ser>
          <c:idx val="0"/>
          <c:order val="0"/>
          <c:tx>
            <c:strRef>
              <c:f>Sheet1!$B$1</c:f>
              <c:strCache>
                <c:ptCount val="1"/>
                <c:pt idx="0">
                  <c:v>% de datos faltantes</c:v>
                </c:pt>
              </c:strCache>
            </c:strRef>
          </c:tx>
          <c:spPr>
            <a:solidFill>
              <a:srgbClr val="4C5FD5"/>
            </a:solidFill>
            <a:effectLst/>
          </c:spPr>
          <c:invertIfNegative val="0"/>
          <c:dLbls>
            <c:numFmt formatCode="0.0&quot;%&quot;" sourceLinked="0"/>
            <c:spPr>
              <a:noFill/>
              <a:ln>
                <a:noFill/>
              </a:ln>
              <a:effectLst/>
            </c:spPr>
            <c:txPr>
              <a:bodyPr/>
              <a:lstStyle/>
              <a:p>
                <a:pPr>
                  <a:defRPr sz="850" b="0" i="0" u="none" strike="noStrike">
                    <a:solidFill>
                      <a:srgbClr val="5A5E7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Sheet1!$A$2:$A$13</c:f>
              <c:strCache>
                <c:ptCount val="12"/>
                <c:pt idx="0">
                  <c:v>gender</c:v>
                </c:pt>
                <c:pt idx="1">
                  <c:v>age</c:v>
                </c:pt>
                <c:pt idx="2">
                  <c:v>sleep_hours</c:v>
                </c:pt>
                <c:pt idx="3">
                  <c:v>academic_work_impact</c:v>
                </c:pt>
                <c:pt idx="4">
                  <c:v>stress_level</c:v>
                </c:pt>
                <c:pt idx="5">
                  <c:v>work_study_hours</c:v>
                </c:pt>
                <c:pt idx="6">
                  <c:v>notifications_per_day</c:v>
                </c:pt>
                <c:pt idx="7">
                  <c:v>app_opens_per_day</c:v>
                </c:pt>
                <c:pt idx="8">
                  <c:v>daily_screen_time_hours</c:v>
                </c:pt>
                <c:pt idx="9">
                  <c:v>weekend_screen_time</c:v>
                </c:pt>
                <c:pt idx="10">
                  <c:v>social_media_hours</c:v>
                </c:pt>
                <c:pt idx="11">
                  <c:v>gaming_hours</c:v>
                </c:pt>
              </c:strCache>
            </c:strRef>
          </c:cat>
          <c:val>
            <c:numRef>
              <c:f>Sheet1!$B$2:$B$13</c:f>
              <c:numCache>
                <c:formatCode>General</c:formatCode>
                <c:ptCount val="12"/>
                <c:pt idx="0">
                  <c:v>4.4000000000000004</c:v>
                </c:pt>
                <c:pt idx="1">
                  <c:v>4.7</c:v>
                </c:pt>
                <c:pt idx="2">
                  <c:v>6.8</c:v>
                </c:pt>
                <c:pt idx="3">
                  <c:v>7.1</c:v>
                </c:pt>
                <c:pt idx="4">
                  <c:v>7.6</c:v>
                </c:pt>
                <c:pt idx="5">
                  <c:v>8</c:v>
                </c:pt>
                <c:pt idx="6">
                  <c:v>10.3</c:v>
                </c:pt>
                <c:pt idx="7">
                  <c:v>10.8</c:v>
                </c:pt>
                <c:pt idx="8">
                  <c:v>13</c:v>
                </c:pt>
                <c:pt idx="9">
                  <c:v>16.5</c:v>
                </c:pt>
                <c:pt idx="10">
                  <c:v>18.399999999999999</c:v>
                </c:pt>
                <c:pt idx="11">
                  <c:v>18.899999999999999</c:v>
                </c:pt>
              </c:numCache>
            </c:numRef>
          </c:val>
          <c:extLst>
            <c:ext xmlns:c16="http://schemas.microsoft.com/office/drawing/2014/chart" uri="{C3380CC4-5D6E-409C-BE32-E72D297353CC}">
              <c16:uniqueId val="{00000000-C508-4A4A-9D8F-1AD36ABEFDAD}"/>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850" b="0" i="0" u="none" strike="noStrike">
                <a:solidFill>
                  <a:srgbClr val="5A5E7A"/>
                </a:solidFill>
                <a:latin typeface="Calibri"/>
              </a:defRPr>
            </a:pPr>
            <a:endParaRPr lang="en-US"/>
          </a:p>
        </c:txPr>
        <c:crossAx val="2094734552"/>
        <c:crosses val="autoZero"/>
        <c:auto val="1"/>
        <c:lblAlgn val="ctr"/>
        <c:lblOffset val="100"/>
        <c:noMultiLvlLbl val="1"/>
      </c:catAx>
      <c:valAx>
        <c:axId val="2094734552"/>
        <c:scaling>
          <c:orientation val="minMax"/>
          <c:max val="23"/>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748769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Presentamos el proyecto y el problema general. La idea central: el uso alto de pantallas no es lo mismo que el uso problemático, y queremos separarlos con datos. El foco está en jóvenes de 18 a 35 años.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motivación es concreta: hoy se mide tiempo total de pantalla, no patrón de uso. Los tres números de abajo salen del propio dataset y sirven para dimensionar el fenómeno.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pregunta es de clasificación binaria. Importante: no es una predicción a futuro, es una caracterización del estado actual, y por eso T se define como una semana típica de uso y no como un horizonte de pronóstico.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987.671 filas en total tras unir train y test. La etiqueta existe solo en las 691.369 filas de train, ese es el conjunto que permite modelar. Una fila = una persona. No hay columna de fecha.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elemento de la pregunta tiene columnas que lo respaldan. Las limitaciones son deliberadas: la falta de fecha nos obliga a plantear la pregunta como caracterización y no como pronóstico, y el 61% de filas con algún faltante define el primer trabajo del Avance 2.</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repositorio ya existe con la estructura mostrada. Los datos crudos y el archivo unificado están separados en raw y processed para poder reproducir el proceso completo.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62E"/>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8229600" cy="274320"/>
          </a:xfrm>
          <a:prstGeom prst="rect">
            <a:avLst/>
          </a:prstGeom>
          <a:noFill/>
          <a:ln/>
        </p:spPr>
        <p:txBody>
          <a:bodyPr wrap="square" lIns="0" tIns="0" rIns="0" bIns="0" rtlCol="0" anchor="ctr"/>
          <a:lstStyle/>
          <a:p>
            <a:pPr marL="0" indent="0">
              <a:buNone/>
            </a:pPr>
            <a:r>
              <a:rPr lang="es-MX" sz="1100" kern="0" spc="150" noProof="0" dirty="0">
                <a:solidFill>
                  <a:srgbClr val="9AA0C4"/>
                </a:solidFill>
                <a:latin typeface="Calibri" pitchFamily="34" charset="0"/>
                <a:ea typeface="Calibri" pitchFamily="34" charset="-122"/>
                <a:cs typeface="Calibri" pitchFamily="34" charset="-120"/>
              </a:rPr>
              <a:t>CIENCIA DE DATOS  ·  PROYECTO INCREMENTAL 2026  ·  AVANCE 1</a:t>
            </a:r>
            <a:endParaRPr lang="es-MX" sz="1100" noProof="0" dirty="0"/>
          </a:p>
        </p:txBody>
      </p:sp>
      <p:sp>
        <p:nvSpPr>
          <p:cNvPr id="3" name="Text 1"/>
          <p:cNvSpPr txBox="1"/>
          <p:nvPr/>
        </p:nvSpPr>
        <p:spPr>
          <a:xfrm>
            <a:off x="640080" y="960120"/>
            <a:ext cx="10058400" cy="868680"/>
          </a:xfrm>
          <a:prstGeom prst="rect">
            <a:avLst/>
          </a:prstGeom>
          <a:noFill/>
          <a:ln/>
        </p:spPr>
        <p:txBody>
          <a:bodyPr wrap="square" lIns="0" tIns="0" rIns="0" bIns="0" rtlCol="0" anchor="ctr"/>
          <a:lstStyle/>
          <a:p>
            <a:pPr marL="0" indent="0">
              <a:buNone/>
            </a:pPr>
            <a:r>
              <a:rPr lang="es-MX" sz="4800" b="1" noProof="0" dirty="0">
                <a:solidFill>
                  <a:srgbClr val="FFFFFF"/>
                </a:solidFill>
                <a:latin typeface="Cambria" pitchFamily="34" charset="0"/>
                <a:ea typeface="Cambria" pitchFamily="34" charset="-122"/>
              </a:rPr>
              <a:t>Adicción a la Pantalla</a:t>
            </a:r>
            <a:endParaRPr lang="es-MX" sz="4800" noProof="0" dirty="0"/>
          </a:p>
        </p:txBody>
      </p:sp>
      <p:sp>
        <p:nvSpPr>
          <p:cNvPr id="4" name="Text 2"/>
          <p:cNvSpPr txBox="1"/>
          <p:nvPr/>
        </p:nvSpPr>
        <p:spPr>
          <a:xfrm>
            <a:off x="640080" y="1828800"/>
            <a:ext cx="9601200" cy="411480"/>
          </a:xfrm>
          <a:prstGeom prst="rect">
            <a:avLst/>
          </a:prstGeom>
          <a:noFill/>
          <a:ln/>
        </p:spPr>
        <p:txBody>
          <a:bodyPr wrap="square" lIns="0" tIns="0" rIns="0" bIns="0" rtlCol="0" anchor="ctr"/>
          <a:lstStyle/>
          <a:p>
            <a:pPr marL="0" indent="0">
              <a:buNone/>
            </a:pPr>
            <a:r>
              <a:rPr lang="es-MX" sz="2000" noProof="0" dirty="0">
                <a:solidFill>
                  <a:srgbClr val="FF7A45"/>
                </a:solidFill>
                <a:latin typeface="Calibri" pitchFamily="34" charset="0"/>
                <a:ea typeface="Calibri" pitchFamily="34" charset="-122"/>
                <a:cs typeface="Calibri" pitchFamily="34" charset="-120"/>
              </a:rPr>
              <a:t>Detección de uso problemático de pantallas en jóvenes adultos</a:t>
            </a:r>
            <a:endParaRPr lang="es-MX" sz="2000" noProof="0" dirty="0"/>
          </a:p>
        </p:txBody>
      </p:sp>
      <p:sp>
        <p:nvSpPr>
          <p:cNvPr id="5" name="Shape 3"/>
          <p:cNvSpPr/>
          <p:nvPr/>
        </p:nvSpPr>
        <p:spPr>
          <a:xfrm>
            <a:off x="640080" y="2606040"/>
            <a:ext cx="5257800" cy="1783080"/>
          </a:xfrm>
          <a:prstGeom prst="roundRect">
            <a:avLst>
              <a:gd name="adj" fmla="val 4103"/>
            </a:avLst>
          </a:prstGeom>
          <a:solidFill>
            <a:srgbClr val="242847"/>
          </a:solidFill>
          <a:ln w="12700">
            <a:solidFill>
              <a:srgbClr val="242847"/>
            </a:solidFill>
            <a:prstDash val="solid"/>
          </a:ln>
        </p:spPr>
        <p:txBody>
          <a:bodyPr/>
          <a:lstStyle/>
          <a:p>
            <a:endParaRPr lang="es-MX" noProof="0" dirty="0"/>
          </a:p>
        </p:txBody>
      </p:sp>
      <p:sp>
        <p:nvSpPr>
          <p:cNvPr id="6" name="Shape 4"/>
          <p:cNvSpPr/>
          <p:nvPr/>
        </p:nvSpPr>
        <p:spPr>
          <a:xfrm>
            <a:off x="6309360" y="2606040"/>
            <a:ext cx="5257800" cy="1783080"/>
          </a:xfrm>
          <a:prstGeom prst="roundRect">
            <a:avLst>
              <a:gd name="adj" fmla="val 4103"/>
            </a:avLst>
          </a:prstGeom>
          <a:solidFill>
            <a:srgbClr val="242847"/>
          </a:solidFill>
          <a:ln w="12700">
            <a:solidFill>
              <a:srgbClr val="242847"/>
            </a:solidFill>
            <a:prstDash val="solid"/>
          </a:ln>
        </p:spPr>
        <p:txBody>
          <a:bodyPr/>
          <a:lstStyle/>
          <a:p>
            <a:endParaRPr lang="es-MX" noProof="0" dirty="0"/>
          </a:p>
        </p:txBody>
      </p:sp>
      <p:sp>
        <p:nvSpPr>
          <p:cNvPr id="7" name="Text 5"/>
          <p:cNvSpPr txBox="1"/>
          <p:nvPr/>
        </p:nvSpPr>
        <p:spPr>
          <a:xfrm>
            <a:off x="914400" y="2788920"/>
            <a:ext cx="4754880" cy="292608"/>
          </a:xfrm>
          <a:prstGeom prst="rect">
            <a:avLst/>
          </a:prstGeom>
          <a:noFill/>
          <a:ln/>
        </p:spPr>
        <p:txBody>
          <a:bodyPr wrap="square" lIns="0" tIns="0" rIns="0" bIns="0" rtlCol="0" anchor="ctr"/>
          <a:lstStyle/>
          <a:p>
            <a:pPr marL="0" indent="0">
              <a:buNone/>
            </a:pPr>
            <a:r>
              <a:rPr lang="es-MX" sz="1500" b="1" noProof="0" dirty="0">
                <a:solidFill>
                  <a:srgbClr val="FF7A45"/>
                </a:solidFill>
                <a:latin typeface="Calibri" pitchFamily="34" charset="0"/>
                <a:ea typeface="Calibri" pitchFamily="34" charset="-122"/>
                <a:cs typeface="Calibri" pitchFamily="34" charset="-120"/>
              </a:rPr>
              <a:t>El problema</a:t>
            </a:r>
            <a:endParaRPr lang="es-MX" sz="1500" noProof="0" dirty="0"/>
          </a:p>
        </p:txBody>
      </p:sp>
      <p:sp>
        <p:nvSpPr>
          <p:cNvPr id="8" name="Text 6"/>
          <p:cNvSpPr txBox="1"/>
          <p:nvPr/>
        </p:nvSpPr>
        <p:spPr>
          <a:xfrm>
            <a:off x="914400" y="3154680"/>
            <a:ext cx="4754880" cy="1097280"/>
          </a:xfrm>
          <a:prstGeom prst="rect">
            <a:avLst/>
          </a:prstGeom>
          <a:noFill/>
          <a:ln/>
        </p:spPr>
        <p:txBody>
          <a:bodyPr wrap="square" lIns="0" tIns="0" rIns="0" bIns="0" rtlCol="0" anchor="t"/>
          <a:lstStyle/>
          <a:p>
            <a:pPr marL="0" indent="0">
              <a:lnSpc>
                <a:spcPts val="2000"/>
              </a:lnSpc>
              <a:buNone/>
            </a:pPr>
            <a:r>
              <a:rPr lang="es-MX" sz="1350" noProof="0" dirty="0">
                <a:solidFill>
                  <a:srgbClr val="D8DCF2"/>
                </a:solidFill>
                <a:latin typeface="Calibri" pitchFamily="34" charset="0"/>
                <a:ea typeface="Calibri" pitchFamily="34" charset="-122"/>
                <a:cs typeface="Calibri" pitchFamily="34" charset="-120"/>
              </a:rPr>
              <a:t>El uso intensivo de pantallas convive con menos horas de sueño y mayor estrés, pero distinguir un uso alto de un uso problemático sigue haciéndose "a ojo". No sabemos qué hábitos concretos marcan la diferencia.</a:t>
            </a:r>
            <a:endParaRPr lang="es-MX" sz="1350" noProof="0" dirty="0"/>
          </a:p>
        </p:txBody>
      </p:sp>
      <p:sp>
        <p:nvSpPr>
          <p:cNvPr id="9" name="Text 7"/>
          <p:cNvSpPr txBox="1"/>
          <p:nvPr/>
        </p:nvSpPr>
        <p:spPr>
          <a:xfrm>
            <a:off x="6583680" y="2788920"/>
            <a:ext cx="4754880" cy="292608"/>
          </a:xfrm>
          <a:prstGeom prst="rect">
            <a:avLst/>
          </a:prstGeom>
          <a:noFill/>
          <a:ln/>
        </p:spPr>
        <p:txBody>
          <a:bodyPr wrap="square" lIns="0" tIns="0" rIns="0" bIns="0" rtlCol="0" anchor="ctr"/>
          <a:lstStyle/>
          <a:p>
            <a:pPr marL="0" indent="0">
              <a:buNone/>
            </a:pPr>
            <a:r>
              <a:rPr lang="es-MX" sz="1500" b="1" noProof="0" dirty="0">
                <a:solidFill>
                  <a:srgbClr val="FF7A45"/>
                </a:solidFill>
                <a:latin typeface="Calibri" pitchFamily="34" charset="0"/>
                <a:ea typeface="Calibri" pitchFamily="34" charset="-122"/>
                <a:cs typeface="Calibri" pitchFamily="34" charset="-120"/>
              </a:rPr>
              <a:t>El contexto</a:t>
            </a:r>
            <a:endParaRPr lang="es-MX" sz="1500" noProof="0" dirty="0"/>
          </a:p>
        </p:txBody>
      </p:sp>
      <p:sp>
        <p:nvSpPr>
          <p:cNvPr id="10" name="Text 8"/>
          <p:cNvSpPr txBox="1"/>
          <p:nvPr/>
        </p:nvSpPr>
        <p:spPr>
          <a:xfrm>
            <a:off x="6583680" y="3154680"/>
            <a:ext cx="4754880" cy="1097280"/>
          </a:xfrm>
          <a:prstGeom prst="rect">
            <a:avLst/>
          </a:prstGeom>
          <a:noFill/>
          <a:ln/>
        </p:spPr>
        <p:txBody>
          <a:bodyPr wrap="square" lIns="0" tIns="0" rIns="0" bIns="0" rtlCol="0" anchor="t"/>
          <a:lstStyle/>
          <a:p>
            <a:pPr marL="0" indent="0">
              <a:lnSpc>
                <a:spcPts val="2000"/>
              </a:lnSpc>
              <a:buNone/>
            </a:pPr>
            <a:r>
              <a:rPr lang="es-MX" sz="1350" noProof="0" dirty="0">
                <a:solidFill>
                  <a:srgbClr val="D8DCF2"/>
                </a:solidFill>
                <a:latin typeface="Calibri" pitchFamily="34" charset="0"/>
                <a:ea typeface="Calibri" pitchFamily="34" charset="-122"/>
                <a:cs typeface="Calibri" pitchFamily="34" charset="-120"/>
              </a:rPr>
              <a:t>Personas de 18 a 35 años en etapa de estudio o trabajo temprano, el grupo con mayor exposición diaria a dispositivos y donde una intervención de higiene digital todavía puede cambiar hábitos.</a:t>
            </a:r>
            <a:endParaRPr lang="es-MX" sz="1350" noProof="0" dirty="0"/>
          </a:p>
        </p:txBody>
      </p:sp>
      <p:sp>
        <p:nvSpPr>
          <p:cNvPr id="11" name="Text 9"/>
          <p:cNvSpPr txBox="1"/>
          <p:nvPr/>
        </p:nvSpPr>
        <p:spPr>
          <a:xfrm>
            <a:off x="640080" y="4892040"/>
            <a:ext cx="4572000" cy="256032"/>
          </a:xfrm>
          <a:prstGeom prst="rect">
            <a:avLst/>
          </a:prstGeom>
          <a:noFill/>
          <a:ln/>
        </p:spPr>
        <p:txBody>
          <a:bodyPr wrap="square" lIns="0" tIns="0" rIns="0" bIns="0" rtlCol="0" anchor="ctr"/>
          <a:lstStyle/>
          <a:p>
            <a:pPr marL="0" indent="0">
              <a:buNone/>
            </a:pPr>
            <a:r>
              <a:rPr lang="es-MX" sz="1100" kern="0" spc="150" noProof="0" dirty="0">
                <a:solidFill>
                  <a:srgbClr val="9AA0C4"/>
                </a:solidFill>
                <a:latin typeface="Calibri" pitchFamily="34" charset="0"/>
                <a:ea typeface="Calibri" pitchFamily="34" charset="-122"/>
                <a:cs typeface="Calibri" pitchFamily="34" charset="-120"/>
              </a:rPr>
              <a:t>INTEGRANTES</a:t>
            </a:r>
            <a:endParaRPr lang="es-MX" sz="1100" noProof="0" dirty="0"/>
          </a:p>
        </p:txBody>
      </p:sp>
      <p:sp>
        <p:nvSpPr>
          <p:cNvPr id="12" name="Text 10"/>
          <p:cNvSpPr txBox="1"/>
          <p:nvPr/>
        </p:nvSpPr>
        <p:spPr>
          <a:xfrm>
            <a:off x="640080" y="5193792"/>
            <a:ext cx="7772400" cy="365760"/>
          </a:xfrm>
          <a:prstGeom prst="rect">
            <a:avLst/>
          </a:prstGeom>
          <a:noFill/>
          <a:ln/>
        </p:spPr>
        <p:txBody>
          <a:bodyPr wrap="square" lIns="0" tIns="0" rIns="0" bIns="0" rtlCol="0" anchor="ctr"/>
          <a:lstStyle/>
          <a:p>
            <a:pPr marL="0" indent="0">
              <a:buNone/>
            </a:pPr>
            <a:r>
              <a:rPr lang="es-MX" sz="1700" dirty="0">
                <a:solidFill>
                  <a:srgbClr val="FFFFFF"/>
                </a:solidFill>
                <a:latin typeface="Calibri" pitchFamily="34" charset="0"/>
                <a:ea typeface="Calibri" pitchFamily="34" charset="-122"/>
                <a:cs typeface="Calibri" pitchFamily="34" charset="-120"/>
              </a:rPr>
              <a:t>Javier Andrade</a:t>
            </a:r>
            <a:r>
              <a:rPr lang="es-MX" sz="1700" noProof="0" dirty="0">
                <a:solidFill>
                  <a:srgbClr val="FFFFFF"/>
                </a:solidFill>
                <a:latin typeface="Calibri" pitchFamily="34" charset="0"/>
                <a:ea typeface="Calibri" pitchFamily="34" charset="-122"/>
                <a:cs typeface="Calibri" pitchFamily="34" charset="-120"/>
              </a:rPr>
              <a:t>     ·     Lucas Martínez     ·     Benjamín Ramos</a:t>
            </a:r>
            <a:endParaRPr lang="es-MX" sz="1700" noProof="0" dirty="0"/>
          </a:p>
        </p:txBody>
      </p:sp>
      <p:sp>
        <p:nvSpPr>
          <p:cNvPr id="13" name="Text 11"/>
          <p:cNvSpPr txBox="1"/>
          <p:nvPr/>
        </p:nvSpPr>
        <p:spPr>
          <a:xfrm>
            <a:off x="640080" y="6035040"/>
            <a:ext cx="7772400" cy="274320"/>
          </a:xfrm>
          <a:prstGeom prst="rect">
            <a:avLst/>
          </a:prstGeom>
          <a:noFill/>
          <a:ln/>
        </p:spPr>
        <p:txBody>
          <a:bodyPr wrap="square" lIns="0" tIns="0" rIns="0" bIns="0" rtlCol="0" anchor="ctr"/>
          <a:lstStyle/>
          <a:p>
            <a:pPr marL="0" indent="0">
              <a:buNone/>
            </a:pPr>
            <a:r>
              <a:rPr lang="es-MX" sz="1200" noProof="0" dirty="0">
                <a:solidFill>
                  <a:srgbClr val="9AA0C4"/>
                </a:solidFill>
                <a:latin typeface="Calibri" pitchFamily="34" charset="0"/>
                <a:ea typeface="Calibri" pitchFamily="34" charset="-122"/>
                <a:cs typeface="Calibri" pitchFamily="34" charset="-120"/>
              </a:rPr>
              <a:t>Universidad Técnica Federico Santa María  ·  Prof. Jesús A. Parra</a:t>
            </a:r>
            <a:endParaRPr lang="es-MX" sz="1200" noProof="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94360" y="384048"/>
            <a:ext cx="7315200" cy="256032"/>
          </a:xfrm>
          <a:prstGeom prst="rect">
            <a:avLst/>
          </a:prstGeom>
          <a:noFill/>
          <a:ln/>
        </p:spPr>
        <p:txBody>
          <a:bodyPr wrap="square" lIns="0" tIns="0" rIns="0" bIns="0" rtlCol="0" anchor="ctr"/>
          <a:lstStyle/>
          <a:p>
            <a:pPr marL="0" indent="0">
              <a:buNone/>
            </a:pPr>
            <a:r>
              <a:rPr lang="en-US" sz="1100" kern="0" spc="120" dirty="0">
                <a:solidFill>
                  <a:srgbClr val="5A5E7A"/>
                </a:solidFill>
                <a:latin typeface="Calibri" pitchFamily="34" charset="0"/>
                <a:ea typeface="Calibri" pitchFamily="34" charset="-122"/>
                <a:cs typeface="Calibri" pitchFamily="34" charset="-120"/>
              </a:rPr>
              <a:t>AVANCE 1  ·  02</a:t>
            </a:r>
            <a:endParaRPr lang="en-US" sz="1100" dirty="0"/>
          </a:p>
        </p:txBody>
      </p:sp>
      <p:sp>
        <p:nvSpPr>
          <p:cNvPr id="3" name="Text 1"/>
          <p:cNvSpPr txBox="1"/>
          <p:nvPr/>
        </p:nvSpPr>
        <p:spPr>
          <a:xfrm>
            <a:off x="594360" y="658368"/>
            <a:ext cx="10515600" cy="640080"/>
          </a:xfrm>
          <a:prstGeom prst="rect">
            <a:avLst/>
          </a:prstGeom>
          <a:noFill/>
          <a:ln/>
        </p:spPr>
        <p:txBody>
          <a:bodyPr wrap="square" lIns="0" tIns="0" rIns="0" bIns="0" rtlCol="0" anchor="ctr"/>
          <a:lstStyle/>
          <a:p>
            <a:pPr marL="0" indent="0">
              <a:buNone/>
            </a:pPr>
            <a:r>
              <a:rPr lang="en-US" sz="3400" b="1" dirty="0">
                <a:solidFill>
                  <a:srgbClr val="14162E"/>
                </a:solidFill>
                <a:latin typeface="Cambria" pitchFamily="34" charset="0"/>
                <a:ea typeface="Cambria" pitchFamily="34" charset="-122"/>
                <a:cs typeface="Cambria" pitchFamily="34" charset="-120"/>
              </a:rPr>
              <a:t>Motivación</a:t>
            </a:r>
            <a:endParaRPr lang="en-US" sz="3400" dirty="0"/>
          </a:p>
        </p:txBody>
      </p:sp>
      <p:sp>
        <p:nvSpPr>
          <p:cNvPr id="4" name="Shape 2"/>
          <p:cNvSpPr/>
          <p:nvPr/>
        </p:nvSpPr>
        <p:spPr>
          <a:xfrm>
            <a:off x="594360" y="2240280"/>
            <a:ext cx="3566160" cy="2971800"/>
          </a:xfrm>
          <a:prstGeom prst="roundRect">
            <a:avLst>
              <a:gd name="adj" fmla="val 2462"/>
            </a:avLst>
          </a:prstGeom>
          <a:solidFill>
            <a:srgbClr val="EFF1F9"/>
          </a:solidFill>
          <a:ln w="12700">
            <a:solidFill>
              <a:srgbClr val="EFF1F9"/>
            </a:solidFill>
            <a:prstDash val="solid"/>
          </a:ln>
        </p:spPr>
        <p:txBody>
          <a:bodyPr/>
          <a:lstStyle/>
          <a:p>
            <a:endParaRPr lang="en-US"/>
          </a:p>
        </p:txBody>
      </p:sp>
      <p:sp>
        <p:nvSpPr>
          <p:cNvPr id="5" name="Shape 3"/>
          <p:cNvSpPr/>
          <p:nvPr/>
        </p:nvSpPr>
        <p:spPr>
          <a:xfrm>
            <a:off x="868680" y="2514600"/>
            <a:ext cx="457200" cy="457200"/>
          </a:xfrm>
          <a:prstGeom prst="ellipse">
            <a:avLst/>
          </a:prstGeom>
          <a:solidFill>
            <a:srgbClr val="4C5FD5"/>
          </a:solidFill>
          <a:ln w="12700">
            <a:solidFill>
              <a:srgbClr val="4C5FD5"/>
            </a:solidFill>
            <a:prstDash val="solid"/>
          </a:ln>
        </p:spPr>
        <p:txBody>
          <a:bodyPr/>
          <a:lstStyle/>
          <a:p>
            <a:endParaRPr lang="en-US"/>
          </a:p>
        </p:txBody>
      </p:sp>
      <p:sp>
        <p:nvSpPr>
          <p:cNvPr id="6" name="Text 4"/>
          <p:cNvSpPr txBox="1"/>
          <p:nvPr/>
        </p:nvSpPr>
        <p:spPr>
          <a:xfrm>
            <a:off x="868680" y="251460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7" name="Text 5"/>
          <p:cNvSpPr txBox="1"/>
          <p:nvPr/>
        </p:nvSpPr>
        <p:spPr>
          <a:xfrm>
            <a:off x="868680" y="3108960"/>
            <a:ext cx="3017520" cy="320040"/>
          </a:xfrm>
          <a:prstGeom prst="rect">
            <a:avLst/>
          </a:prstGeom>
          <a:noFill/>
          <a:ln/>
        </p:spPr>
        <p:txBody>
          <a:bodyPr wrap="square" lIns="0" tIns="0" rIns="0" bIns="0" rtlCol="0" anchor="ctr"/>
          <a:lstStyle/>
          <a:p>
            <a:pPr marL="0" indent="0">
              <a:buNone/>
            </a:pPr>
            <a:r>
              <a:rPr lang="en-US" sz="1500" b="1" dirty="0">
                <a:solidFill>
                  <a:srgbClr val="14162E"/>
                </a:solidFill>
                <a:latin typeface="Calibri" pitchFamily="34" charset="0"/>
                <a:ea typeface="Calibri" pitchFamily="34" charset="-122"/>
                <a:cs typeface="Calibri" pitchFamily="34" charset="-120"/>
              </a:rPr>
              <a:t>¿Por qué es interesante?</a:t>
            </a:r>
            <a:endParaRPr lang="en-US" sz="1500" dirty="0"/>
          </a:p>
        </p:txBody>
      </p:sp>
      <p:sp>
        <p:nvSpPr>
          <p:cNvPr id="8" name="Text 6"/>
          <p:cNvSpPr txBox="1"/>
          <p:nvPr/>
        </p:nvSpPr>
        <p:spPr>
          <a:xfrm>
            <a:off x="868680" y="3474720"/>
            <a:ext cx="3017520" cy="1600200"/>
          </a:xfrm>
          <a:prstGeom prst="rect">
            <a:avLst/>
          </a:prstGeom>
          <a:noFill/>
          <a:ln/>
        </p:spPr>
        <p:txBody>
          <a:bodyPr wrap="square" lIns="0" tIns="0" rIns="0" bIns="0" rtlCol="0" anchor="t"/>
          <a:lstStyle/>
          <a:p>
            <a:pPr marL="0" indent="0">
              <a:lnSpc>
                <a:spcPts val="1700"/>
              </a:lnSpc>
              <a:buNone/>
            </a:pPr>
            <a:r>
              <a:rPr lang="en-US" sz="1200" dirty="0">
                <a:solidFill>
                  <a:srgbClr val="5A5E7A"/>
                </a:solidFill>
                <a:latin typeface="Calibri" pitchFamily="34" charset="0"/>
                <a:ea typeface="Calibri" pitchFamily="34" charset="-122"/>
                <a:cs typeface="Calibri" pitchFamily="34" charset="-120"/>
              </a:rPr>
              <a:t>El uso problemático de pantallas ya se comporta como un problema de salud pública, pero suele medirse con encuestas de autopercepción. Aquí existen métricas de comportamiento observable (tiempo, notificaciones, aperturas de apps) que permiten estudiarlo de forma cuantitativa.</a:t>
            </a:r>
            <a:endParaRPr lang="en-US" sz="1200" dirty="0"/>
          </a:p>
        </p:txBody>
      </p:sp>
      <p:sp>
        <p:nvSpPr>
          <p:cNvPr id="9" name="Shape 7"/>
          <p:cNvSpPr/>
          <p:nvPr/>
        </p:nvSpPr>
        <p:spPr>
          <a:xfrm>
            <a:off x="4343400" y="2240280"/>
            <a:ext cx="3566160" cy="2971800"/>
          </a:xfrm>
          <a:prstGeom prst="roundRect">
            <a:avLst>
              <a:gd name="adj" fmla="val 2462"/>
            </a:avLst>
          </a:prstGeom>
          <a:solidFill>
            <a:srgbClr val="EFF1F9"/>
          </a:solidFill>
          <a:ln w="12700">
            <a:solidFill>
              <a:srgbClr val="EFF1F9"/>
            </a:solidFill>
            <a:prstDash val="solid"/>
          </a:ln>
        </p:spPr>
        <p:txBody>
          <a:bodyPr/>
          <a:lstStyle/>
          <a:p>
            <a:endParaRPr lang="en-US"/>
          </a:p>
        </p:txBody>
      </p:sp>
      <p:sp>
        <p:nvSpPr>
          <p:cNvPr id="10" name="Shape 8"/>
          <p:cNvSpPr/>
          <p:nvPr/>
        </p:nvSpPr>
        <p:spPr>
          <a:xfrm>
            <a:off x="4617720" y="2514600"/>
            <a:ext cx="457200" cy="457200"/>
          </a:xfrm>
          <a:prstGeom prst="ellipse">
            <a:avLst/>
          </a:prstGeom>
          <a:solidFill>
            <a:srgbClr val="4C5FD5"/>
          </a:solidFill>
          <a:ln w="12700">
            <a:solidFill>
              <a:srgbClr val="4C5FD5"/>
            </a:solidFill>
            <a:prstDash val="solid"/>
          </a:ln>
        </p:spPr>
        <p:txBody>
          <a:bodyPr/>
          <a:lstStyle/>
          <a:p>
            <a:endParaRPr lang="en-US"/>
          </a:p>
        </p:txBody>
      </p:sp>
      <p:sp>
        <p:nvSpPr>
          <p:cNvPr id="11" name="Text 9"/>
          <p:cNvSpPr txBox="1"/>
          <p:nvPr/>
        </p:nvSpPr>
        <p:spPr>
          <a:xfrm>
            <a:off x="4617720" y="251460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12" name="Text 10"/>
          <p:cNvSpPr txBox="1"/>
          <p:nvPr/>
        </p:nvSpPr>
        <p:spPr>
          <a:xfrm>
            <a:off x="4617720" y="3108960"/>
            <a:ext cx="3017520" cy="320040"/>
          </a:xfrm>
          <a:prstGeom prst="rect">
            <a:avLst/>
          </a:prstGeom>
          <a:noFill/>
          <a:ln/>
        </p:spPr>
        <p:txBody>
          <a:bodyPr wrap="square" lIns="0" tIns="0" rIns="0" bIns="0" rtlCol="0" anchor="ctr"/>
          <a:lstStyle/>
          <a:p>
            <a:pPr marL="0" indent="0">
              <a:buNone/>
            </a:pPr>
            <a:r>
              <a:rPr lang="en-US" sz="1500" b="1" dirty="0">
                <a:solidFill>
                  <a:srgbClr val="14162E"/>
                </a:solidFill>
                <a:latin typeface="Calibri" pitchFamily="34" charset="0"/>
                <a:ea typeface="Calibri" pitchFamily="34" charset="-122"/>
                <a:cs typeface="Calibri" pitchFamily="34" charset="-120"/>
              </a:rPr>
              <a:t>¿Quién se beneficia?</a:t>
            </a:r>
            <a:endParaRPr lang="en-US" sz="1500" dirty="0"/>
          </a:p>
        </p:txBody>
      </p:sp>
      <p:sp>
        <p:nvSpPr>
          <p:cNvPr id="13" name="Text 11"/>
          <p:cNvSpPr txBox="1"/>
          <p:nvPr/>
        </p:nvSpPr>
        <p:spPr>
          <a:xfrm>
            <a:off x="4617720" y="3474720"/>
            <a:ext cx="3017520" cy="1600200"/>
          </a:xfrm>
          <a:prstGeom prst="rect">
            <a:avLst/>
          </a:prstGeom>
          <a:noFill/>
          <a:ln/>
        </p:spPr>
        <p:txBody>
          <a:bodyPr wrap="square" lIns="0" tIns="0" rIns="0" bIns="0" rtlCol="0" anchor="t"/>
          <a:lstStyle/>
          <a:p>
            <a:pPr marL="0" indent="0">
              <a:lnSpc>
                <a:spcPts val="1700"/>
              </a:lnSpc>
              <a:buNone/>
            </a:pPr>
            <a:r>
              <a:rPr lang="en-US" sz="1200" dirty="0">
                <a:solidFill>
                  <a:srgbClr val="5A5E7A"/>
                </a:solidFill>
                <a:latin typeface="Calibri" pitchFamily="34" charset="0"/>
                <a:ea typeface="Calibri" pitchFamily="34" charset="-122"/>
                <a:cs typeface="Calibri" pitchFamily="34" charset="-120"/>
              </a:rPr>
              <a:t>Equipos de bienestar estudiantil y salud universitaria que necesitan priorizar a quién ofrecer apoyo; y quienes diseñan herramientas de bienestar digital, que hoy actúan sobre el tiempo total y no sobre el patrón de uso.</a:t>
            </a:r>
            <a:endParaRPr lang="en-US" sz="1200" dirty="0"/>
          </a:p>
        </p:txBody>
      </p:sp>
      <p:sp>
        <p:nvSpPr>
          <p:cNvPr id="14" name="Shape 12"/>
          <p:cNvSpPr/>
          <p:nvPr/>
        </p:nvSpPr>
        <p:spPr>
          <a:xfrm>
            <a:off x="8092440" y="2240280"/>
            <a:ext cx="3566160" cy="2971800"/>
          </a:xfrm>
          <a:prstGeom prst="roundRect">
            <a:avLst>
              <a:gd name="adj" fmla="val 2462"/>
            </a:avLst>
          </a:prstGeom>
          <a:solidFill>
            <a:srgbClr val="EFF1F9"/>
          </a:solidFill>
          <a:ln w="12700">
            <a:solidFill>
              <a:srgbClr val="EFF1F9"/>
            </a:solidFill>
            <a:prstDash val="solid"/>
          </a:ln>
        </p:spPr>
        <p:txBody>
          <a:bodyPr/>
          <a:lstStyle/>
          <a:p>
            <a:endParaRPr lang="en-US"/>
          </a:p>
        </p:txBody>
      </p:sp>
      <p:sp>
        <p:nvSpPr>
          <p:cNvPr id="15" name="Shape 13"/>
          <p:cNvSpPr/>
          <p:nvPr/>
        </p:nvSpPr>
        <p:spPr>
          <a:xfrm>
            <a:off x="8366760" y="2514600"/>
            <a:ext cx="457200" cy="457200"/>
          </a:xfrm>
          <a:prstGeom prst="ellipse">
            <a:avLst/>
          </a:prstGeom>
          <a:solidFill>
            <a:srgbClr val="4C5FD5"/>
          </a:solidFill>
          <a:ln w="12700">
            <a:solidFill>
              <a:srgbClr val="4C5FD5"/>
            </a:solidFill>
            <a:prstDash val="solid"/>
          </a:ln>
        </p:spPr>
        <p:txBody>
          <a:bodyPr/>
          <a:lstStyle/>
          <a:p>
            <a:endParaRPr lang="en-US"/>
          </a:p>
        </p:txBody>
      </p:sp>
      <p:sp>
        <p:nvSpPr>
          <p:cNvPr id="16" name="Text 14"/>
          <p:cNvSpPr txBox="1"/>
          <p:nvPr/>
        </p:nvSpPr>
        <p:spPr>
          <a:xfrm>
            <a:off x="8366760" y="251460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17" name="Text 15"/>
          <p:cNvSpPr txBox="1"/>
          <p:nvPr/>
        </p:nvSpPr>
        <p:spPr>
          <a:xfrm>
            <a:off x="8366760" y="3108960"/>
            <a:ext cx="3017520" cy="320040"/>
          </a:xfrm>
          <a:prstGeom prst="rect">
            <a:avLst/>
          </a:prstGeom>
          <a:noFill/>
          <a:ln/>
        </p:spPr>
        <p:txBody>
          <a:bodyPr wrap="square" lIns="0" tIns="0" rIns="0" bIns="0" rtlCol="0" anchor="ctr"/>
          <a:lstStyle/>
          <a:p>
            <a:pPr marL="0" indent="0">
              <a:buNone/>
            </a:pPr>
            <a:r>
              <a:rPr lang="en-US" sz="1500" b="1" dirty="0">
                <a:solidFill>
                  <a:srgbClr val="14162E"/>
                </a:solidFill>
                <a:latin typeface="Calibri" pitchFamily="34" charset="0"/>
                <a:ea typeface="Calibri" pitchFamily="34" charset="-122"/>
                <a:cs typeface="Calibri" pitchFamily="34" charset="-120"/>
              </a:rPr>
              <a:t>¿Qué se quiere comprender?</a:t>
            </a:r>
            <a:endParaRPr lang="en-US" sz="1500" dirty="0"/>
          </a:p>
        </p:txBody>
      </p:sp>
      <p:sp>
        <p:nvSpPr>
          <p:cNvPr id="18" name="Text 16"/>
          <p:cNvSpPr txBox="1"/>
          <p:nvPr/>
        </p:nvSpPr>
        <p:spPr>
          <a:xfrm>
            <a:off x="8366760" y="3474720"/>
            <a:ext cx="3017520" cy="1600200"/>
          </a:xfrm>
          <a:prstGeom prst="rect">
            <a:avLst/>
          </a:prstGeom>
          <a:noFill/>
          <a:ln/>
        </p:spPr>
        <p:txBody>
          <a:bodyPr wrap="square" lIns="0" tIns="0" rIns="0" bIns="0" rtlCol="0" anchor="t"/>
          <a:lstStyle/>
          <a:p>
            <a:pPr marL="0" indent="0">
              <a:lnSpc>
                <a:spcPts val="1700"/>
              </a:lnSpc>
              <a:buNone/>
            </a:pPr>
            <a:r>
              <a:rPr lang="en-US" sz="1200" dirty="0">
                <a:solidFill>
                  <a:srgbClr val="5A5E7A"/>
                </a:solidFill>
                <a:latin typeface="Calibri" pitchFamily="34" charset="0"/>
                <a:ea typeface="Calibri" pitchFamily="34" charset="-122"/>
                <a:cs typeface="Calibri" pitchFamily="34" charset="-120"/>
              </a:rPr>
              <a:t>Qué combinación de hábitos digitales, de sueño y de contexto personal acompaña a un patrón de uso problemático, para apoyar la decisión de ofrecer o no una intervención breve de higiene digital.</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94360" y="384048"/>
            <a:ext cx="7315200" cy="256032"/>
          </a:xfrm>
          <a:prstGeom prst="rect">
            <a:avLst/>
          </a:prstGeom>
          <a:noFill/>
          <a:ln/>
        </p:spPr>
        <p:txBody>
          <a:bodyPr wrap="square" lIns="0" tIns="0" rIns="0" bIns="0" rtlCol="0" anchor="ctr"/>
          <a:lstStyle/>
          <a:p>
            <a:pPr marL="0" indent="0">
              <a:buNone/>
            </a:pPr>
            <a:r>
              <a:rPr lang="es-MX" sz="1100" kern="0" spc="120" noProof="0" dirty="0">
                <a:solidFill>
                  <a:srgbClr val="5A5E7A"/>
                </a:solidFill>
                <a:latin typeface="Calibri" pitchFamily="34" charset="0"/>
                <a:ea typeface="Calibri" pitchFamily="34" charset="-122"/>
                <a:cs typeface="Calibri" pitchFamily="34" charset="-120"/>
              </a:rPr>
              <a:t>AVANCE 1  ·  03</a:t>
            </a:r>
            <a:endParaRPr lang="es-MX" sz="1100" noProof="0" dirty="0"/>
          </a:p>
        </p:txBody>
      </p:sp>
      <p:sp>
        <p:nvSpPr>
          <p:cNvPr id="3" name="Text 1"/>
          <p:cNvSpPr txBox="1"/>
          <p:nvPr/>
        </p:nvSpPr>
        <p:spPr>
          <a:xfrm>
            <a:off x="594360" y="658368"/>
            <a:ext cx="10515600" cy="640080"/>
          </a:xfrm>
          <a:prstGeom prst="rect">
            <a:avLst/>
          </a:prstGeom>
          <a:noFill/>
          <a:ln/>
        </p:spPr>
        <p:txBody>
          <a:bodyPr wrap="square" lIns="0" tIns="0" rIns="0" bIns="0" rtlCol="0" anchor="ctr"/>
          <a:lstStyle/>
          <a:p>
            <a:pPr marL="0" indent="0">
              <a:buNone/>
            </a:pPr>
            <a:r>
              <a:rPr lang="es-MX" sz="3400" b="1" noProof="0" dirty="0">
                <a:solidFill>
                  <a:srgbClr val="14162E"/>
                </a:solidFill>
                <a:latin typeface="Cambria" pitchFamily="34" charset="0"/>
                <a:ea typeface="Cambria" pitchFamily="34" charset="-122"/>
                <a:cs typeface="Cambria" pitchFamily="34" charset="-120"/>
              </a:rPr>
              <a:t>Pregunta del Proyecto</a:t>
            </a:r>
            <a:endParaRPr lang="es-MX" sz="3400" noProof="0" dirty="0"/>
          </a:p>
        </p:txBody>
      </p:sp>
      <p:sp>
        <p:nvSpPr>
          <p:cNvPr id="4" name="Shape 2"/>
          <p:cNvSpPr/>
          <p:nvPr/>
        </p:nvSpPr>
        <p:spPr>
          <a:xfrm>
            <a:off x="594360" y="1463040"/>
            <a:ext cx="10972800" cy="1600200"/>
          </a:xfrm>
          <a:prstGeom prst="roundRect">
            <a:avLst>
              <a:gd name="adj" fmla="val 4571"/>
            </a:avLst>
          </a:prstGeom>
          <a:solidFill>
            <a:srgbClr val="14162E"/>
          </a:solidFill>
          <a:ln w="12700">
            <a:solidFill>
              <a:srgbClr val="14162E"/>
            </a:solidFill>
            <a:prstDash val="solid"/>
          </a:ln>
        </p:spPr>
        <p:txBody>
          <a:bodyPr/>
          <a:lstStyle/>
          <a:p>
            <a:endParaRPr lang="es-MX" noProof="0" dirty="0"/>
          </a:p>
        </p:txBody>
      </p:sp>
      <p:sp>
        <p:nvSpPr>
          <p:cNvPr id="5" name="Text 3"/>
          <p:cNvSpPr txBox="1"/>
          <p:nvPr/>
        </p:nvSpPr>
        <p:spPr>
          <a:xfrm>
            <a:off x="960120" y="1691640"/>
            <a:ext cx="10241280" cy="1188720"/>
          </a:xfrm>
          <a:prstGeom prst="rect">
            <a:avLst/>
          </a:prstGeom>
          <a:noFill/>
          <a:ln/>
        </p:spPr>
        <p:txBody>
          <a:bodyPr wrap="square" lIns="0" tIns="0" rIns="0" bIns="0" rtlCol="0" anchor="ctr"/>
          <a:lstStyle/>
          <a:p>
            <a:pPr marL="0" indent="0">
              <a:lnSpc>
                <a:spcPts val="2600"/>
              </a:lnSpc>
              <a:buNone/>
            </a:pPr>
            <a:r>
              <a:rPr lang="es-MX" sz="1750" i="1" noProof="0" dirty="0">
                <a:solidFill>
                  <a:srgbClr val="FFFFFF"/>
                </a:solidFill>
                <a:latin typeface="Cambria" pitchFamily="34" charset="0"/>
                <a:ea typeface="Cambria" pitchFamily="34" charset="-122"/>
                <a:cs typeface="Cambria" pitchFamily="34" charset="-120"/>
              </a:rPr>
              <a:t>¿Es posible identificar si una persona de 18 a 35 años presenta un patrón de uso problemático de pantallas (Y), a partir de sus hábitos digitales, de sueño y de su contexto personal medidos en una semana típica (X), usando únicamente la información disponible al momento de la evaluación (T)?</a:t>
            </a:r>
            <a:endParaRPr lang="es-MX" sz="1750" noProof="0" dirty="0"/>
          </a:p>
        </p:txBody>
      </p:sp>
      <p:sp>
        <p:nvSpPr>
          <p:cNvPr id="6" name="Shape 4"/>
          <p:cNvSpPr/>
          <p:nvPr/>
        </p:nvSpPr>
        <p:spPr>
          <a:xfrm>
            <a:off x="594360" y="3337560"/>
            <a:ext cx="3566160" cy="2331720"/>
          </a:xfrm>
          <a:prstGeom prst="roundRect">
            <a:avLst>
              <a:gd name="adj" fmla="val 3137"/>
            </a:avLst>
          </a:prstGeom>
          <a:solidFill>
            <a:srgbClr val="EFF1F9"/>
          </a:solidFill>
          <a:ln w="12700">
            <a:solidFill>
              <a:srgbClr val="EFF1F9"/>
            </a:solidFill>
            <a:prstDash val="solid"/>
          </a:ln>
        </p:spPr>
        <p:txBody>
          <a:bodyPr/>
          <a:lstStyle/>
          <a:p>
            <a:endParaRPr lang="es-MX" noProof="0" dirty="0"/>
          </a:p>
        </p:txBody>
      </p:sp>
      <p:sp>
        <p:nvSpPr>
          <p:cNvPr id="7" name="Shape 5"/>
          <p:cNvSpPr/>
          <p:nvPr/>
        </p:nvSpPr>
        <p:spPr>
          <a:xfrm>
            <a:off x="868680" y="3566160"/>
            <a:ext cx="502920" cy="502920"/>
          </a:xfrm>
          <a:prstGeom prst="ellipse">
            <a:avLst/>
          </a:prstGeom>
          <a:solidFill>
            <a:srgbClr val="4C5FD5"/>
          </a:solidFill>
          <a:ln w="12700">
            <a:solidFill>
              <a:srgbClr val="4C5FD5"/>
            </a:solidFill>
            <a:prstDash val="solid"/>
          </a:ln>
        </p:spPr>
        <p:txBody>
          <a:bodyPr/>
          <a:lstStyle/>
          <a:p>
            <a:endParaRPr lang="es-MX" noProof="0" dirty="0"/>
          </a:p>
        </p:txBody>
      </p:sp>
      <p:sp>
        <p:nvSpPr>
          <p:cNvPr id="8" name="Text 6"/>
          <p:cNvSpPr txBox="1"/>
          <p:nvPr/>
        </p:nvSpPr>
        <p:spPr>
          <a:xfrm>
            <a:off x="868680" y="3566160"/>
            <a:ext cx="502920" cy="502920"/>
          </a:xfrm>
          <a:prstGeom prst="rect">
            <a:avLst/>
          </a:prstGeom>
          <a:noFill/>
          <a:ln/>
        </p:spPr>
        <p:txBody>
          <a:bodyPr wrap="square" lIns="0" tIns="0" rIns="0" bIns="0" rtlCol="0" anchor="ctr"/>
          <a:lstStyle/>
          <a:p>
            <a:pPr marL="0" indent="0" algn="ctr">
              <a:buNone/>
            </a:pPr>
            <a:r>
              <a:rPr lang="es-MX" sz="1800" b="1" noProof="0" dirty="0">
                <a:solidFill>
                  <a:srgbClr val="FFFFFF"/>
                </a:solidFill>
                <a:latin typeface="Cambria" pitchFamily="34" charset="0"/>
                <a:ea typeface="Cambria" pitchFamily="34" charset="-122"/>
                <a:cs typeface="Cambria" pitchFamily="34" charset="-120"/>
              </a:rPr>
              <a:t>X</a:t>
            </a:r>
            <a:endParaRPr lang="es-MX" sz="1800" noProof="0" dirty="0"/>
          </a:p>
        </p:txBody>
      </p:sp>
      <p:sp>
        <p:nvSpPr>
          <p:cNvPr id="9" name="Text 7"/>
          <p:cNvSpPr txBox="1"/>
          <p:nvPr/>
        </p:nvSpPr>
        <p:spPr>
          <a:xfrm>
            <a:off x="1490472" y="3639312"/>
            <a:ext cx="2377440" cy="365760"/>
          </a:xfrm>
          <a:prstGeom prst="rect">
            <a:avLst/>
          </a:prstGeom>
          <a:noFill/>
          <a:ln/>
        </p:spPr>
        <p:txBody>
          <a:bodyPr wrap="square" lIns="0" tIns="0" rIns="0" bIns="0" rtlCol="0" anchor="ctr"/>
          <a:lstStyle/>
          <a:p>
            <a:pPr marL="0" indent="0">
              <a:buNone/>
            </a:pPr>
            <a:r>
              <a:rPr lang="es-MX" sz="1500" b="1" noProof="0" dirty="0">
                <a:solidFill>
                  <a:srgbClr val="14162E"/>
                </a:solidFill>
                <a:latin typeface="Calibri" pitchFamily="34" charset="0"/>
                <a:ea typeface="Calibri" pitchFamily="34" charset="-122"/>
                <a:cs typeface="Calibri" pitchFamily="34" charset="-120"/>
              </a:rPr>
              <a:t>Predictores</a:t>
            </a:r>
            <a:endParaRPr lang="es-MX" sz="1500" noProof="0" dirty="0"/>
          </a:p>
        </p:txBody>
      </p:sp>
      <p:sp>
        <p:nvSpPr>
          <p:cNvPr id="10" name="Text 8"/>
          <p:cNvSpPr txBox="1"/>
          <p:nvPr/>
        </p:nvSpPr>
        <p:spPr>
          <a:xfrm>
            <a:off x="868680" y="4206240"/>
            <a:ext cx="3017520" cy="1783080"/>
          </a:xfrm>
          <a:prstGeom prst="rect">
            <a:avLst/>
          </a:prstGeom>
          <a:noFill/>
          <a:ln/>
        </p:spPr>
        <p:txBody>
          <a:bodyPr wrap="square" lIns="0" tIns="0" rIns="0" bIns="0" rtlCol="0" anchor="t"/>
          <a:lstStyle/>
          <a:p>
            <a:pPr marL="0" indent="0">
              <a:lnSpc>
                <a:spcPts val="1600"/>
              </a:lnSpc>
              <a:buNone/>
            </a:pPr>
            <a:r>
              <a:rPr lang="es-MX" sz="1150" noProof="0" dirty="0">
                <a:solidFill>
                  <a:srgbClr val="5A5E7A"/>
                </a:solidFill>
                <a:latin typeface="Calibri" pitchFamily="34" charset="0"/>
                <a:ea typeface="Calibri" pitchFamily="34" charset="-122"/>
                <a:cs typeface="Calibri" pitchFamily="34" charset="-120"/>
              </a:rPr>
              <a:t>Tiempo de pantalla diario y de fin de semana, horas en redes sociales, videojuegos y trabajo/estudio, horas de sueño, notificaciones y aperturas de apps por día, edad, género, nivel de estrés e impacto académico o laboral.</a:t>
            </a:r>
            <a:endParaRPr lang="es-MX" sz="1150" noProof="0" dirty="0"/>
          </a:p>
        </p:txBody>
      </p:sp>
      <p:sp>
        <p:nvSpPr>
          <p:cNvPr id="11" name="Shape 9"/>
          <p:cNvSpPr/>
          <p:nvPr/>
        </p:nvSpPr>
        <p:spPr>
          <a:xfrm>
            <a:off x="4343400" y="3337560"/>
            <a:ext cx="3566160" cy="2331720"/>
          </a:xfrm>
          <a:prstGeom prst="roundRect">
            <a:avLst>
              <a:gd name="adj" fmla="val 3137"/>
            </a:avLst>
          </a:prstGeom>
          <a:solidFill>
            <a:srgbClr val="EFF1F9"/>
          </a:solidFill>
          <a:ln w="12700">
            <a:solidFill>
              <a:srgbClr val="EFF1F9"/>
            </a:solidFill>
            <a:prstDash val="solid"/>
          </a:ln>
        </p:spPr>
        <p:txBody>
          <a:bodyPr/>
          <a:lstStyle/>
          <a:p>
            <a:endParaRPr lang="es-MX" noProof="0" dirty="0"/>
          </a:p>
        </p:txBody>
      </p:sp>
      <p:sp>
        <p:nvSpPr>
          <p:cNvPr id="12" name="Shape 10"/>
          <p:cNvSpPr/>
          <p:nvPr/>
        </p:nvSpPr>
        <p:spPr>
          <a:xfrm>
            <a:off x="4617720" y="3566160"/>
            <a:ext cx="502920" cy="502920"/>
          </a:xfrm>
          <a:prstGeom prst="ellipse">
            <a:avLst/>
          </a:prstGeom>
          <a:solidFill>
            <a:srgbClr val="FF7A45"/>
          </a:solidFill>
          <a:ln w="12700">
            <a:solidFill>
              <a:srgbClr val="FF7A45"/>
            </a:solidFill>
            <a:prstDash val="solid"/>
          </a:ln>
        </p:spPr>
        <p:txBody>
          <a:bodyPr/>
          <a:lstStyle/>
          <a:p>
            <a:endParaRPr lang="es-MX" noProof="0" dirty="0"/>
          </a:p>
        </p:txBody>
      </p:sp>
      <p:sp>
        <p:nvSpPr>
          <p:cNvPr id="13" name="Text 11"/>
          <p:cNvSpPr txBox="1"/>
          <p:nvPr/>
        </p:nvSpPr>
        <p:spPr>
          <a:xfrm>
            <a:off x="4617720" y="3566160"/>
            <a:ext cx="502920" cy="502920"/>
          </a:xfrm>
          <a:prstGeom prst="rect">
            <a:avLst/>
          </a:prstGeom>
          <a:noFill/>
          <a:ln/>
        </p:spPr>
        <p:txBody>
          <a:bodyPr wrap="square" lIns="0" tIns="0" rIns="0" bIns="0" rtlCol="0" anchor="ctr"/>
          <a:lstStyle/>
          <a:p>
            <a:pPr marL="0" indent="0" algn="ctr">
              <a:buNone/>
            </a:pPr>
            <a:r>
              <a:rPr lang="es-MX" sz="1800" b="1" noProof="0" dirty="0">
                <a:solidFill>
                  <a:srgbClr val="FFFFFF"/>
                </a:solidFill>
                <a:latin typeface="Cambria" pitchFamily="34" charset="0"/>
                <a:ea typeface="Cambria" pitchFamily="34" charset="-122"/>
                <a:cs typeface="Cambria" pitchFamily="34" charset="-120"/>
              </a:rPr>
              <a:t>Y</a:t>
            </a:r>
            <a:endParaRPr lang="es-MX" sz="1800" noProof="0" dirty="0"/>
          </a:p>
        </p:txBody>
      </p:sp>
      <p:sp>
        <p:nvSpPr>
          <p:cNvPr id="14" name="Text 12"/>
          <p:cNvSpPr txBox="1"/>
          <p:nvPr/>
        </p:nvSpPr>
        <p:spPr>
          <a:xfrm>
            <a:off x="5239512" y="3639312"/>
            <a:ext cx="2377440" cy="365760"/>
          </a:xfrm>
          <a:prstGeom prst="rect">
            <a:avLst/>
          </a:prstGeom>
          <a:noFill/>
          <a:ln/>
        </p:spPr>
        <p:txBody>
          <a:bodyPr wrap="square" lIns="0" tIns="0" rIns="0" bIns="0" rtlCol="0" anchor="ctr"/>
          <a:lstStyle/>
          <a:p>
            <a:pPr marL="0" indent="0">
              <a:buNone/>
            </a:pPr>
            <a:r>
              <a:rPr lang="es-MX" sz="1500" b="1" noProof="0" dirty="0">
                <a:solidFill>
                  <a:srgbClr val="14162E"/>
                </a:solidFill>
                <a:latin typeface="Calibri" pitchFamily="34" charset="0"/>
                <a:ea typeface="Calibri" pitchFamily="34" charset="-122"/>
                <a:cs typeface="Calibri" pitchFamily="34" charset="-120"/>
              </a:rPr>
              <a:t>Objetivo</a:t>
            </a:r>
            <a:endParaRPr lang="es-MX" sz="1500" noProof="0" dirty="0"/>
          </a:p>
        </p:txBody>
      </p:sp>
      <p:sp>
        <p:nvSpPr>
          <p:cNvPr id="15" name="Text 13"/>
          <p:cNvSpPr txBox="1"/>
          <p:nvPr/>
        </p:nvSpPr>
        <p:spPr>
          <a:xfrm>
            <a:off x="4617720" y="4206240"/>
            <a:ext cx="3017520" cy="1783080"/>
          </a:xfrm>
          <a:prstGeom prst="rect">
            <a:avLst/>
          </a:prstGeom>
          <a:noFill/>
          <a:ln/>
        </p:spPr>
        <p:txBody>
          <a:bodyPr wrap="square" lIns="0" tIns="0" rIns="0" bIns="0" rtlCol="0" anchor="t"/>
          <a:lstStyle/>
          <a:p>
            <a:pPr marL="0" indent="0">
              <a:lnSpc>
                <a:spcPts val="1600"/>
              </a:lnSpc>
              <a:buNone/>
            </a:pPr>
            <a:r>
              <a:rPr lang="es-MX" sz="1150" noProof="0" dirty="0" err="1">
                <a:solidFill>
                  <a:srgbClr val="5A5E7A"/>
                </a:solidFill>
                <a:latin typeface="Calibri" pitchFamily="34" charset="0"/>
                <a:ea typeface="Calibri" pitchFamily="34" charset="-122"/>
                <a:cs typeface="Calibri" pitchFamily="34" charset="-120"/>
              </a:rPr>
              <a:t>addicted_label</a:t>
            </a:r>
            <a:r>
              <a:rPr lang="es-MX" sz="1150" noProof="0" dirty="0">
                <a:solidFill>
                  <a:srgbClr val="5A5E7A"/>
                </a:solidFill>
                <a:latin typeface="Calibri" pitchFamily="34" charset="0"/>
                <a:ea typeface="Calibri" pitchFamily="34" charset="-122"/>
                <a:cs typeface="Calibri" pitchFamily="34" charset="-120"/>
              </a:rPr>
              <a:t>: indicador binario de uso problemático de pantallas (1 = sí, 0 = no). Es una variable de clasificación, disponible en la porción etiquetada del </a:t>
            </a:r>
            <a:r>
              <a:rPr lang="es-MX" sz="1150" noProof="0" dirty="0" err="1">
                <a:solidFill>
                  <a:srgbClr val="5A5E7A"/>
                </a:solidFill>
                <a:latin typeface="Calibri" pitchFamily="34" charset="0"/>
                <a:ea typeface="Calibri" pitchFamily="34" charset="-122"/>
                <a:cs typeface="Calibri" pitchFamily="34" charset="-120"/>
              </a:rPr>
              <a:t>dataset</a:t>
            </a:r>
            <a:r>
              <a:rPr lang="es-MX" sz="1150" noProof="0" dirty="0">
                <a:solidFill>
                  <a:srgbClr val="5A5E7A"/>
                </a:solidFill>
                <a:latin typeface="Calibri" pitchFamily="34" charset="0"/>
                <a:ea typeface="Calibri" pitchFamily="34" charset="-122"/>
                <a:cs typeface="Calibri" pitchFamily="34" charset="-120"/>
              </a:rPr>
              <a:t>.</a:t>
            </a:r>
            <a:endParaRPr lang="es-MX" sz="1150" noProof="0" dirty="0"/>
          </a:p>
        </p:txBody>
      </p:sp>
      <p:sp>
        <p:nvSpPr>
          <p:cNvPr id="16" name="Shape 14"/>
          <p:cNvSpPr/>
          <p:nvPr/>
        </p:nvSpPr>
        <p:spPr>
          <a:xfrm>
            <a:off x="8092440" y="3337560"/>
            <a:ext cx="3566160" cy="2331720"/>
          </a:xfrm>
          <a:prstGeom prst="roundRect">
            <a:avLst>
              <a:gd name="adj" fmla="val 3137"/>
            </a:avLst>
          </a:prstGeom>
          <a:solidFill>
            <a:srgbClr val="EFF1F9"/>
          </a:solidFill>
          <a:ln w="12700">
            <a:solidFill>
              <a:srgbClr val="EFF1F9"/>
            </a:solidFill>
            <a:prstDash val="solid"/>
          </a:ln>
        </p:spPr>
        <p:txBody>
          <a:bodyPr/>
          <a:lstStyle/>
          <a:p>
            <a:endParaRPr lang="es-MX" noProof="0" dirty="0"/>
          </a:p>
        </p:txBody>
      </p:sp>
      <p:sp>
        <p:nvSpPr>
          <p:cNvPr id="17" name="Shape 15"/>
          <p:cNvSpPr/>
          <p:nvPr/>
        </p:nvSpPr>
        <p:spPr>
          <a:xfrm>
            <a:off x="8366760" y="3566160"/>
            <a:ext cx="502920" cy="502920"/>
          </a:xfrm>
          <a:prstGeom prst="ellipse">
            <a:avLst/>
          </a:prstGeom>
          <a:solidFill>
            <a:srgbClr val="2E9E8F"/>
          </a:solidFill>
          <a:ln w="12700">
            <a:solidFill>
              <a:srgbClr val="2E9E8F"/>
            </a:solidFill>
            <a:prstDash val="solid"/>
          </a:ln>
        </p:spPr>
        <p:txBody>
          <a:bodyPr/>
          <a:lstStyle/>
          <a:p>
            <a:endParaRPr lang="es-MX" noProof="0" dirty="0"/>
          </a:p>
        </p:txBody>
      </p:sp>
      <p:sp>
        <p:nvSpPr>
          <p:cNvPr id="18" name="Text 16"/>
          <p:cNvSpPr txBox="1"/>
          <p:nvPr/>
        </p:nvSpPr>
        <p:spPr>
          <a:xfrm>
            <a:off x="8366760" y="3566160"/>
            <a:ext cx="502920" cy="502920"/>
          </a:xfrm>
          <a:prstGeom prst="rect">
            <a:avLst/>
          </a:prstGeom>
          <a:noFill/>
          <a:ln/>
        </p:spPr>
        <p:txBody>
          <a:bodyPr wrap="square" lIns="0" tIns="0" rIns="0" bIns="0" rtlCol="0" anchor="ctr"/>
          <a:lstStyle/>
          <a:p>
            <a:pPr marL="0" indent="0" algn="ctr">
              <a:buNone/>
            </a:pPr>
            <a:r>
              <a:rPr lang="es-MX" sz="1800" b="1" noProof="0" dirty="0">
                <a:solidFill>
                  <a:srgbClr val="FFFFFF"/>
                </a:solidFill>
                <a:latin typeface="Cambria" pitchFamily="34" charset="0"/>
                <a:ea typeface="Cambria" pitchFamily="34" charset="-122"/>
                <a:cs typeface="Cambria" pitchFamily="34" charset="-120"/>
              </a:rPr>
              <a:t>T</a:t>
            </a:r>
            <a:endParaRPr lang="es-MX" sz="1800" noProof="0" dirty="0"/>
          </a:p>
        </p:txBody>
      </p:sp>
      <p:sp>
        <p:nvSpPr>
          <p:cNvPr id="19" name="Text 17"/>
          <p:cNvSpPr txBox="1"/>
          <p:nvPr/>
        </p:nvSpPr>
        <p:spPr>
          <a:xfrm>
            <a:off x="8988552" y="3639312"/>
            <a:ext cx="2377440" cy="365760"/>
          </a:xfrm>
          <a:prstGeom prst="rect">
            <a:avLst/>
          </a:prstGeom>
          <a:noFill/>
          <a:ln/>
        </p:spPr>
        <p:txBody>
          <a:bodyPr wrap="square" lIns="0" tIns="0" rIns="0" bIns="0" rtlCol="0" anchor="ctr"/>
          <a:lstStyle/>
          <a:p>
            <a:pPr marL="0" indent="0">
              <a:buNone/>
            </a:pPr>
            <a:r>
              <a:rPr lang="es-MX" sz="1500" b="1" noProof="0" dirty="0">
                <a:solidFill>
                  <a:srgbClr val="14162E"/>
                </a:solidFill>
                <a:latin typeface="Calibri" pitchFamily="34" charset="0"/>
                <a:ea typeface="Calibri" pitchFamily="34" charset="-122"/>
                <a:cs typeface="Calibri" pitchFamily="34" charset="-120"/>
              </a:rPr>
              <a:t>Contexto temporal</a:t>
            </a:r>
            <a:endParaRPr lang="es-MX" sz="1500" noProof="0" dirty="0"/>
          </a:p>
        </p:txBody>
      </p:sp>
      <p:sp>
        <p:nvSpPr>
          <p:cNvPr id="20" name="Text 18"/>
          <p:cNvSpPr txBox="1"/>
          <p:nvPr/>
        </p:nvSpPr>
        <p:spPr>
          <a:xfrm>
            <a:off x="8366760" y="4206240"/>
            <a:ext cx="3017520" cy="1783080"/>
          </a:xfrm>
          <a:prstGeom prst="rect">
            <a:avLst/>
          </a:prstGeom>
          <a:noFill/>
          <a:ln/>
        </p:spPr>
        <p:txBody>
          <a:bodyPr wrap="square" lIns="0" tIns="0" rIns="0" bIns="0" rtlCol="0" anchor="t"/>
          <a:lstStyle/>
          <a:p>
            <a:pPr marL="0" indent="0">
              <a:lnSpc>
                <a:spcPts val="1600"/>
              </a:lnSpc>
              <a:buNone/>
            </a:pPr>
            <a:r>
              <a:rPr lang="es-MX" sz="1150" noProof="0" dirty="0">
                <a:solidFill>
                  <a:srgbClr val="5A5E7A"/>
                </a:solidFill>
                <a:latin typeface="Calibri" pitchFamily="34" charset="0"/>
                <a:ea typeface="Calibri" pitchFamily="34" charset="-122"/>
                <a:cs typeface="Calibri" pitchFamily="34" charset="-120"/>
              </a:rPr>
              <a:t>Una semana típica de uso, con contraste entre días hábiles y fin de semana. La evaluación es transversal: describe el estado actual de la persona, no una proyección a futuro.</a:t>
            </a:r>
            <a:endParaRPr lang="es-MX" sz="1150" noProof="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94360" y="384048"/>
            <a:ext cx="7315200" cy="256032"/>
          </a:xfrm>
          <a:prstGeom prst="rect">
            <a:avLst/>
          </a:prstGeom>
          <a:noFill/>
          <a:ln/>
        </p:spPr>
        <p:txBody>
          <a:bodyPr wrap="square" lIns="0" tIns="0" rIns="0" bIns="0" rtlCol="0" anchor="ctr"/>
          <a:lstStyle/>
          <a:p>
            <a:pPr marL="0" indent="0">
              <a:buNone/>
            </a:pPr>
            <a:r>
              <a:rPr lang="en-US" sz="1100" kern="0" spc="120" dirty="0">
                <a:solidFill>
                  <a:srgbClr val="5A5E7A"/>
                </a:solidFill>
                <a:latin typeface="Calibri" pitchFamily="34" charset="0"/>
                <a:ea typeface="Calibri" pitchFamily="34" charset="-122"/>
                <a:cs typeface="Calibri" pitchFamily="34" charset="-120"/>
              </a:rPr>
              <a:t>AVANCE 1  ·  04</a:t>
            </a:r>
            <a:endParaRPr lang="en-US" sz="1100" dirty="0"/>
          </a:p>
        </p:txBody>
      </p:sp>
      <p:sp>
        <p:nvSpPr>
          <p:cNvPr id="3" name="Text 1"/>
          <p:cNvSpPr txBox="1"/>
          <p:nvPr/>
        </p:nvSpPr>
        <p:spPr>
          <a:xfrm>
            <a:off x="594360" y="658368"/>
            <a:ext cx="10515600" cy="640080"/>
          </a:xfrm>
          <a:prstGeom prst="rect">
            <a:avLst/>
          </a:prstGeom>
          <a:noFill/>
          <a:ln/>
        </p:spPr>
        <p:txBody>
          <a:bodyPr wrap="square" lIns="0" tIns="0" rIns="0" bIns="0" rtlCol="0" anchor="ctr"/>
          <a:lstStyle/>
          <a:p>
            <a:pPr marL="0" indent="0">
              <a:buNone/>
            </a:pPr>
            <a:r>
              <a:rPr lang="en-US" sz="3400" b="1" dirty="0">
                <a:solidFill>
                  <a:srgbClr val="14162E"/>
                </a:solidFill>
                <a:latin typeface="Cambria" pitchFamily="34" charset="0"/>
                <a:ea typeface="Cambria" pitchFamily="34" charset="-122"/>
                <a:cs typeface="Cambria" pitchFamily="34" charset="-120"/>
              </a:rPr>
              <a:t>Dataset</a:t>
            </a:r>
            <a:endParaRPr lang="en-US" sz="3400" dirty="0"/>
          </a:p>
        </p:txBody>
      </p:sp>
      <p:sp>
        <p:nvSpPr>
          <p:cNvPr id="4" name="Shape 2"/>
          <p:cNvSpPr/>
          <p:nvPr/>
        </p:nvSpPr>
        <p:spPr>
          <a:xfrm>
            <a:off x="594360" y="1417320"/>
            <a:ext cx="2331720" cy="1051560"/>
          </a:xfrm>
          <a:prstGeom prst="roundRect">
            <a:avLst>
              <a:gd name="adj" fmla="val 6957"/>
            </a:avLst>
          </a:prstGeom>
          <a:solidFill>
            <a:srgbClr val="EFF1F9"/>
          </a:solidFill>
          <a:ln w="12700">
            <a:solidFill>
              <a:srgbClr val="EFF1F9"/>
            </a:solidFill>
            <a:prstDash val="solid"/>
          </a:ln>
        </p:spPr>
        <p:txBody>
          <a:bodyPr/>
          <a:lstStyle/>
          <a:p>
            <a:endParaRPr lang="en-US"/>
          </a:p>
        </p:txBody>
      </p:sp>
      <p:sp>
        <p:nvSpPr>
          <p:cNvPr id="5" name="Text 3"/>
          <p:cNvSpPr txBox="1"/>
          <p:nvPr/>
        </p:nvSpPr>
        <p:spPr>
          <a:xfrm>
            <a:off x="822960" y="1581912"/>
            <a:ext cx="1920240" cy="457200"/>
          </a:xfrm>
          <a:prstGeom prst="rect">
            <a:avLst/>
          </a:prstGeom>
          <a:noFill/>
          <a:ln/>
        </p:spPr>
        <p:txBody>
          <a:bodyPr wrap="square" lIns="0" tIns="0" rIns="0" bIns="0" rtlCol="0" anchor="ctr"/>
          <a:lstStyle/>
          <a:p>
            <a:pPr marL="0" indent="0">
              <a:buNone/>
            </a:pPr>
            <a:r>
              <a:rPr lang="en-US" sz="2200" b="1" dirty="0">
                <a:solidFill>
                  <a:srgbClr val="4C5FD5"/>
                </a:solidFill>
                <a:latin typeface="Cambria" pitchFamily="34" charset="0"/>
                <a:ea typeface="Cambria" pitchFamily="34" charset="-122"/>
                <a:cs typeface="Cambria" pitchFamily="34" charset="-120"/>
              </a:rPr>
              <a:t>987.671</a:t>
            </a:r>
            <a:endParaRPr lang="en-US" sz="2200" dirty="0"/>
          </a:p>
        </p:txBody>
      </p:sp>
      <p:sp>
        <p:nvSpPr>
          <p:cNvPr id="6" name="Text 4"/>
          <p:cNvSpPr txBox="1"/>
          <p:nvPr/>
        </p:nvSpPr>
        <p:spPr>
          <a:xfrm>
            <a:off x="822960" y="2039112"/>
            <a:ext cx="1920240" cy="274320"/>
          </a:xfrm>
          <a:prstGeom prst="rect">
            <a:avLst/>
          </a:prstGeom>
          <a:noFill/>
          <a:ln/>
        </p:spPr>
        <p:txBody>
          <a:bodyPr wrap="square" lIns="0" tIns="0" rIns="0" bIns="0" rtlCol="0" anchor="ctr"/>
          <a:lstStyle/>
          <a:p>
            <a:pPr marL="0" indent="0">
              <a:buNone/>
            </a:pPr>
            <a:r>
              <a:rPr lang="en-US" sz="1100" dirty="0">
                <a:solidFill>
                  <a:srgbClr val="5A5E7A"/>
                </a:solidFill>
                <a:latin typeface="Calibri" pitchFamily="34" charset="0"/>
                <a:ea typeface="Calibri" pitchFamily="34" charset="-122"/>
                <a:cs typeface="Calibri" pitchFamily="34" charset="-120"/>
              </a:rPr>
              <a:t>registros totales</a:t>
            </a:r>
            <a:endParaRPr lang="en-US" sz="1100" dirty="0"/>
          </a:p>
        </p:txBody>
      </p:sp>
      <p:sp>
        <p:nvSpPr>
          <p:cNvPr id="7" name="Shape 5"/>
          <p:cNvSpPr/>
          <p:nvPr/>
        </p:nvSpPr>
        <p:spPr>
          <a:xfrm>
            <a:off x="3063240" y="1417320"/>
            <a:ext cx="2331720" cy="1051560"/>
          </a:xfrm>
          <a:prstGeom prst="roundRect">
            <a:avLst>
              <a:gd name="adj" fmla="val 6957"/>
            </a:avLst>
          </a:prstGeom>
          <a:solidFill>
            <a:srgbClr val="EFF1F9"/>
          </a:solidFill>
          <a:ln w="12700">
            <a:solidFill>
              <a:srgbClr val="EFF1F9"/>
            </a:solidFill>
            <a:prstDash val="solid"/>
          </a:ln>
        </p:spPr>
        <p:txBody>
          <a:bodyPr/>
          <a:lstStyle/>
          <a:p>
            <a:endParaRPr lang="en-US"/>
          </a:p>
        </p:txBody>
      </p:sp>
      <p:sp>
        <p:nvSpPr>
          <p:cNvPr id="8" name="Text 6"/>
          <p:cNvSpPr txBox="1"/>
          <p:nvPr/>
        </p:nvSpPr>
        <p:spPr>
          <a:xfrm>
            <a:off x="3291840" y="1581912"/>
            <a:ext cx="1920240" cy="457200"/>
          </a:xfrm>
          <a:prstGeom prst="rect">
            <a:avLst/>
          </a:prstGeom>
          <a:noFill/>
          <a:ln/>
        </p:spPr>
        <p:txBody>
          <a:bodyPr wrap="square" lIns="0" tIns="0" rIns="0" bIns="0" rtlCol="0" anchor="ctr"/>
          <a:lstStyle/>
          <a:p>
            <a:pPr marL="0" indent="0">
              <a:buNone/>
            </a:pPr>
            <a:r>
              <a:rPr lang="en-US" sz="2200" b="1" dirty="0">
                <a:solidFill>
                  <a:srgbClr val="4C5FD5"/>
                </a:solidFill>
                <a:latin typeface="Cambria" pitchFamily="34" charset="0"/>
                <a:ea typeface="Cambria" pitchFamily="34" charset="-122"/>
                <a:cs typeface="Cambria" pitchFamily="34" charset="-120"/>
              </a:rPr>
              <a:t>13</a:t>
            </a:r>
            <a:endParaRPr lang="en-US" sz="2200" dirty="0"/>
          </a:p>
        </p:txBody>
      </p:sp>
      <p:sp>
        <p:nvSpPr>
          <p:cNvPr id="9" name="Text 7"/>
          <p:cNvSpPr txBox="1"/>
          <p:nvPr/>
        </p:nvSpPr>
        <p:spPr>
          <a:xfrm>
            <a:off x="3291840" y="2039112"/>
            <a:ext cx="1920240" cy="274320"/>
          </a:xfrm>
          <a:prstGeom prst="rect">
            <a:avLst/>
          </a:prstGeom>
          <a:noFill/>
          <a:ln/>
        </p:spPr>
        <p:txBody>
          <a:bodyPr wrap="square" lIns="0" tIns="0" rIns="0" bIns="0" rtlCol="0" anchor="ctr"/>
          <a:lstStyle/>
          <a:p>
            <a:pPr marL="0" indent="0">
              <a:buNone/>
            </a:pPr>
            <a:r>
              <a:rPr lang="en-US" sz="1100" dirty="0">
                <a:solidFill>
                  <a:srgbClr val="5A5E7A"/>
                </a:solidFill>
                <a:latin typeface="Calibri" pitchFamily="34" charset="0"/>
                <a:ea typeface="Calibri" pitchFamily="34" charset="-122"/>
                <a:cs typeface="Calibri" pitchFamily="34" charset="-120"/>
              </a:rPr>
              <a:t>variables + id</a:t>
            </a:r>
            <a:endParaRPr lang="en-US" sz="1100" dirty="0"/>
          </a:p>
        </p:txBody>
      </p:sp>
      <p:sp>
        <p:nvSpPr>
          <p:cNvPr id="10" name="Shape 8"/>
          <p:cNvSpPr/>
          <p:nvPr/>
        </p:nvSpPr>
        <p:spPr>
          <a:xfrm>
            <a:off x="594360" y="2487168"/>
            <a:ext cx="2331720" cy="1051560"/>
          </a:xfrm>
          <a:prstGeom prst="roundRect">
            <a:avLst>
              <a:gd name="adj" fmla="val 6957"/>
            </a:avLst>
          </a:prstGeom>
          <a:solidFill>
            <a:srgbClr val="EFF1F9"/>
          </a:solidFill>
          <a:ln w="12700">
            <a:solidFill>
              <a:srgbClr val="EFF1F9"/>
            </a:solidFill>
            <a:prstDash val="solid"/>
          </a:ln>
        </p:spPr>
        <p:txBody>
          <a:bodyPr/>
          <a:lstStyle/>
          <a:p>
            <a:endParaRPr lang="en-US"/>
          </a:p>
        </p:txBody>
      </p:sp>
      <p:sp>
        <p:nvSpPr>
          <p:cNvPr id="11" name="Text 9"/>
          <p:cNvSpPr txBox="1"/>
          <p:nvPr/>
        </p:nvSpPr>
        <p:spPr>
          <a:xfrm>
            <a:off x="822960" y="2651760"/>
            <a:ext cx="1920240" cy="457200"/>
          </a:xfrm>
          <a:prstGeom prst="rect">
            <a:avLst/>
          </a:prstGeom>
          <a:noFill/>
          <a:ln/>
        </p:spPr>
        <p:txBody>
          <a:bodyPr wrap="square" lIns="0" tIns="0" rIns="0" bIns="0" rtlCol="0" anchor="ctr"/>
          <a:lstStyle/>
          <a:p>
            <a:pPr marL="0" indent="0">
              <a:buNone/>
            </a:pPr>
            <a:r>
              <a:rPr lang="en-US" sz="2200" b="1" dirty="0">
                <a:solidFill>
                  <a:srgbClr val="4C5FD5"/>
                </a:solidFill>
                <a:latin typeface="Cambria" pitchFamily="34" charset="0"/>
                <a:ea typeface="Cambria" pitchFamily="34" charset="-122"/>
                <a:cs typeface="Cambria" pitchFamily="34" charset="-120"/>
              </a:rPr>
              <a:t>691.369</a:t>
            </a:r>
            <a:endParaRPr lang="en-US" sz="2200" dirty="0"/>
          </a:p>
        </p:txBody>
      </p:sp>
      <p:sp>
        <p:nvSpPr>
          <p:cNvPr id="12" name="Text 10"/>
          <p:cNvSpPr txBox="1"/>
          <p:nvPr/>
        </p:nvSpPr>
        <p:spPr>
          <a:xfrm>
            <a:off x="822960" y="3108960"/>
            <a:ext cx="1920240" cy="274320"/>
          </a:xfrm>
          <a:prstGeom prst="rect">
            <a:avLst/>
          </a:prstGeom>
          <a:noFill/>
          <a:ln/>
        </p:spPr>
        <p:txBody>
          <a:bodyPr wrap="square" lIns="0" tIns="0" rIns="0" bIns="0" rtlCol="0" anchor="ctr"/>
          <a:lstStyle/>
          <a:p>
            <a:pPr marL="0" indent="0">
              <a:buNone/>
            </a:pPr>
            <a:r>
              <a:rPr lang="en-US" sz="1100" dirty="0">
                <a:solidFill>
                  <a:srgbClr val="5A5E7A"/>
                </a:solidFill>
                <a:latin typeface="Calibri" pitchFamily="34" charset="0"/>
                <a:ea typeface="Calibri" pitchFamily="34" charset="-122"/>
                <a:cs typeface="Calibri" pitchFamily="34" charset="-120"/>
              </a:rPr>
              <a:t>filas con etiqueta</a:t>
            </a:r>
            <a:endParaRPr lang="en-US" sz="1100" dirty="0"/>
          </a:p>
        </p:txBody>
      </p:sp>
      <p:sp>
        <p:nvSpPr>
          <p:cNvPr id="13" name="Shape 11"/>
          <p:cNvSpPr/>
          <p:nvPr/>
        </p:nvSpPr>
        <p:spPr>
          <a:xfrm>
            <a:off x="3063240" y="2487168"/>
            <a:ext cx="2331720" cy="1051560"/>
          </a:xfrm>
          <a:prstGeom prst="roundRect">
            <a:avLst>
              <a:gd name="adj" fmla="val 6957"/>
            </a:avLst>
          </a:prstGeom>
          <a:solidFill>
            <a:srgbClr val="EFF1F9"/>
          </a:solidFill>
          <a:ln w="12700">
            <a:solidFill>
              <a:srgbClr val="EFF1F9"/>
            </a:solidFill>
            <a:prstDash val="solid"/>
          </a:ln>
        </p:spPr>
        <p:txBody>
          <a:bodyPr/>
          <a:lstStyle/>
          <a:p>
            <a:endParaRPr lang="en-US"/>
          </a:p>
        </p:txBody>
      </p:sp>
      <p:sp>
        <p:nvSpPr>
          <p:cNvPr id="14" name="Text 12"/>
          <p:cNvSpPr txBox="1"/>
          <p:nvPr/>
        </p:nvSpPr>
        <p:spPr>
          <a:xfrm>
            <a:off x="3291840" y="2651760"/>
            <a:ext cx="1920240" cy="457200"/>
          </a:xfrm>
          <a:prstGeom prst="rect">
            <a:avLst/>
          </a:prstGeom>
          <a:noFill/>
          <a:ln/>
        </p:spPr>
        <p:txBody>
          <a:bodyPr wrap="square" lIns="0" tIns="0" rIns="0" bIns="0" rtlCol="0" anchor="ctr"/>
          <a:lstStyle/>
          <a:p>
            <a:pPr marL="0" indent="0">
              <a:buNone/>
            </a:pPr>
            <a:r>
              <a:rPr lang="en-US" sz="2200" b="1" dirty="0">
                <a:solidFill>
                  <a:srgbClr val="4C5FD5"/>
                </a:solidFill>
                <a:latin typeface="Cambria" pitchFamily="34" charset="0"/>
                <a:ea typeface="Cambria" pitchFamily="34" charset="-122"/>
                <a:cs typeface="Cambria" pitchFamily="34" charset="-120"/>
              </a:rPr>
              <a:t>18–35</a:t>
            </a:r>
            <a:endParaRPr lang="en-US" sz="2200" dirty="0"/>
          </a:p>
        </p:txBody>
      </p:sp>
      <p:sp>
        <p:nvSpPr>
          <p:cNvPr id="15" name="Text 13"/>
          <p:cNvSpPr txBox="1"/>
          <p:nvPr/>
        </p:nvSpPr>
        <p:spPr>
          <a:xfrm>
            <a:off x="3291840" y="3108960"/>
            <a:ext cx="1920240" cy="274320"/>
          </a:xfrm>
          <a:prstGeom prst="rect">
            <a:avLst/>
          </a:prstGeom>
          <a:noFill/>
          <a:ln/>
        </p:spPr>
        <p:txBody>
          <a:bodyPr wrap="square" lIns="0" tIns="0" rIns="0" bIns="0" rtlCol="0" anchor="ctr"/>
          <a:lstStyle/>
          <a:p>
            <a:pPr marL="0" indent="0">
              <a:buNone/>
            </a:pPr>
            <a:r>
              <a:rPr lang="en-US" sz="1100" dirty="0">
                <a:solidFill>
                  <a:srgbClr val="5A5E7A"/>
                </a:solidFill>
                <a:latin typeface="Calibri" pitchFamily="34" charset="0"/>
                <a:ea typeface="Calibri" pitchFamily="34" charset="-122"/>
                <a:cs typeface="Calibri" pitchFamily="34" charset="-120"/>
              </a:rPr>
              <a:t>años de edad</a:t>
            </a:r>
            <a:endParaRPr lang="en-US" sz="1100" dirty="0"/>
          </a:p>
        </p:txBody>
      </p:sp>
      <p:sp>
        <p:nvSpPr>
          <p:cNvPr id="16" name="Text 14"/>
          <p:cNvSpPr txBox="1"/>
          <p:nvPr/>
        </p:nvSpPr>
        <p:spPr>
          <a:xfrm>
            <a:off x="594360" y="3886200"/>
            <a:ext cx="4800600" cy="228600"/>
          </a:xfrm>
          <a:prstGeom prst="rect">
            <a:avLst/>
          </a:prstGeom>
          <a:noFill/>
          <a:ln/>
        </p:spPr>
        <p:txBody>
          <a:bodyPr wrap="square" lIns="0" tIns="0" rIns="0" bIns="0" rtlCol="0" anchor="ctr"/>
          <a:lstStyle/>
          <a:p>
            <a:pPr marL="0" indent="0">
              <a:buNone/>
            </a:pPr>
            <a:r>
              <a:rPr lang="en-US" sz="1150" b="1" dirty="0">
                <a:solidFill>
                  <a:srgbClr val="14162E"/>
                </a:solidFill>
                <a:latin typeface="Calibri" pitchFamily="34" charset="0"/>
                <a:ea typeface="Calibri" pitchFamily="34" charset="-122"/>
                <a:cs typeface="Calibri" pitchFamily="34" charset="-120"/>
              </a:rPr>
              <a:t>Fuente</a:t>
            </a:r>
            <a:endParaRPr lang="en-US" sz="1150" dirty="0"/>
          </a:p>
        </p:txBody>
      </p:sp>
      <p:sp>
        <p:nvSpPr>
          <p:cNvPr id="17" name="Text 15"/>
          <p:cNvSpPr txBox="1"/>
          <p:nvPr/>
        </p:nvSpPr>
        <p:spPr>
          <a:xfrm>
            <a:off x="594360" y="4105656"/>
            <a:ext cx="4800600" cy="411480"/>
          </a:xfrm>
          <a:prstGeom prst="rect">
            <a:avLst/>
          </a:prstGeom>
          <a:noFill/>
          <a:ln/>
        </p:spPr>
        <p:txBody>
          <a:bodyPr wrap="square" lIns="0" tIns="0" rIns="0" bIns="0" rtlCol="0" anchor="ctr"/>
          <a:lstStyle/>
          <a:p>
            <a:pPr marL="0" indent="0">
              <a:lnSpc>
                <a:spcPts val="1400"/>
              </a:lnSpc>
              <a:buNone/>
            </a:pPr>
            <a:r>
              <a:rPr lang="en-US" sz="1100" dirty="0">
                <a:solidFill>
                  <a:srgbClr val="5A5E7A"/>
                </a:solidFill>
                <a:latin typeface="Calibri" pitchFamily="34" charset="0"/>
                <a:ea typeface="Calibri" pitchFamily="34" charset="-122"/>
                <a:cs typeface="Calibri" pitchFamily="34" charset="-120"/>
              </a:rPr>
              <a:t>Kaggle — dataset público de hábitos de uso de pantalla (archivos train.csv y test.csv).</a:t>
            </a:r>
            <a:endParaRPr lang="en-US" sz="1100" dirty="0"/>
          </a:p>
        </p:txBody>
      </p:sp>
      <p:sp>
        <p:nvSpPr>
          <p:cNvPr id="18" name="Text 16"/>
          <p:cNvSpPr txBox="1"/>
          <p:nvPr/>
        </p:nvSpPr>
        <p:spPr>
          <a:xfrm>
            <a:off x="594360" y="4507992"/>
            <a:ext cx="4800600" cy="228600"/>
          </a:xfrm>
          <a:prstGeom prst="rect">
            <a:avLst/>
          </a:prstGeom>
          <a:noFill/>
          <a:ln/>
        </p:spPr>
        <p:txBody>
          <a:bodyPr wrap="square" lIns="0" tIns="0" rIns="0" bIns="0" rtlCol="0" anchor="ctr"/>
          <a:lstStyle/>
          <a:p>
            <a:pPr marL="0" indent="0">
              <a:buNone/>
            </a:pPr>
            <a:r>
              <a:rPr lang="en-US" sz="1150" b="1" dirty="0">
                <a:solidFill>
                  <a:srgbClr val="14162E"/>
                </a:solidFill>
                <a:latin typeface="Calibri" pitchFamily="34" charset="0"/>
                <a:ea typeface="Calibri" pitchFamily="34" charset="-122"/>
                <a:cs typeface="Calibri" pitchFamily="34" charset="-120"/>
              </a:rPr>
              <a:t>Unidad de observación</a:t>
            </a:r>
            <a:endParaRPr lang="en-US" sz="1150" dirty="0"/>
          </a:p>
        </p:txBody>
      </p:sp>
      <p:sp>
        <p:nvSpPr>
          <p:cNvPr id="19" name="Text 17"/>
          <p:cNvSpPr txBox="1"/>
          <p:nvPr/>
        </p:nvSpPr>
        <p:spPr>
          <a:xfrm>
            <a:off x="594360" y="4727448"/>
            <a:ext cx="4800600" cy="411480"/>
          </a:xfrm>
          <a:prstGeom prst="rect">
            <a:avLst/>
          </a:prstGeom>
          <a:noFill/>
          <a:ln/>
        </p:spPr>
        <p:txBody>
          <a:bodyPr wrap="square" lIns="0" tIns="0" rIns="0" bIns="0" rtlCol="0" anchor="ctr"/>
          <a:lstStyle/>
          <a:p>
            <a:pPr marL="0" indent="0">
              <a:lnSpc>
                <a:spcPts val="1400"/>
              </a:lnSpc>
              <a:buNone/>
            </a:pPr>
            <a:r>
              <a:rPr lang="en-US" sz="1100" dirty="0">
                <a:solidFill>
                  <a:srgbClr val="5A5E7A"/>
                </a:solidFill>
                <a:latin typeface="Calibri" pitchFamily="34" charset="0"/>
                <a:ea typeface="Calibri" pitchFamily="34" charset="-122"/>
                <a:cs typeface="Calibri" pitchFamily="34" charset="-120"/>
              </a:rPr>
              <a:t>Una persona (un usuario) por fila, identificada por id.</a:t>
            </a:r>
            <a:endParaRPr lang="en-US" sz="1100" dirty="0"/>
          </a:p>
        </p:txBody>
      </p:sp>
      <p:sp>
        <p:nvSpPr>
          <p:cNvPr id="20" name="Text 18"/>
          <p:cNvSpPr txBox="1"/>
          <p:nvPr/>
        </p:nvSpPr>
        <p:spPr>
          <a:xfrm>
            <a:off x="594360" y="5129784"/>
            <a:ext cx="4800600" cy="228600"/>
          </a:xfrm>
          <a:prstGeom prst="rect">
            <a:avLst/>
          </a:prstGeom>
          <a:noFill/>
          <a:ln/>
        </p:spPr>
        <p:txBody>
          <a:bodyPr wrap="square" lIns="0" tIns="0" rIns="0" bIns="0" rtlCol="0" anchor="ctr"/>
          <a:lstStyle/>
          <a:p>
            <a:pPr marL="0" indent="0">
              <a:buNone/>
            </a:pPr>
            <a:r>
              <a:rPr lang="en-US" sz="1150" b="1" dirty="0">
                <a:solidFill>
                  <a:srgbClr val="14162E"/>
                </a:solidFill>
                <a:latin typeface="Calibri" pitchFamily="34" charset="0"/>
                <a:ea typeface="Calibri" pitchFamily="34" charset="-122"/>
                <a:cs typeface="Calibri" pitchFamily="34" charset="-120"/>
              </a:rPr>
              <a:t>Cobertura temporal</a:t>
            </a:r>
            <a:endParaRPr lang="en-US" sz="1150" dirty="0"/>
          </a:p>
        </p:txBody>
      </p:sp>
      <p:sp>
        <p:nvSpPr>
          <p:cNvPr id="21" name="Text 19"/>
          <p:cNvSpPr txBox="1"/>
          <p:nvPr/>
        </p:nvSpPr>
        <p:spPr>
          <a:xfrm>
            <a:off x="594360" y="5349240"/>
            <a:ext cx="4800600" cy="411480"/>
          </a:xfrm>
          <a:prstGeom prst="rect">
            <a:avLst/>
          </a:prstGeom>
          <a:noFill/>
          <a:ln/>
        </p:spPr>
        <p:txBody>
          <a:bodyPr wrap="square" lIns="0" tIns="0" rIns="0" bIns="0" rtlCol="0" anchor="ctr"/>
          <a:lstStyle/>
          <a:p>
            <a:pPr marL="0" indent="0">
              <a:lnSpc>
                <a:spcPts val="1400"/>
              </a:lnSpc>
              <a:buNone/>
            </a:pPr>
            <a:r>
              <a:rPr lang="en-US" sz="1100" dirty="0">
                <a:solidFill>
                  <a:srgbClr val="5A5E7A"/>
                </a:solidFill>
                <a:latin typeface="Calibri" pitchFamily="34" charset="0"/>
                <a:ea typeface="Calibri" pitchFamily="34" charset="-122"/>
                <a:cs typeface="Calibri" pitchFamily="34" charset="-120"/>
              </a:rPr>
              <a:t>Sin marca de fecha: los datos describen hábitos de una semana típica, no una serie de tiempo.</a:t>
            </a:r>
            <a:endParaRPr lang="en-US" sz="1100" dirty="0"/>
          </a:p>
        </p:txBody>
      </p:sp>
      <p:sp>
        <p:nvSpPr>
          <p:cNvPr id="22" name="Text 20"/>
          <p:cNvSpPr txBox="1"/>
          <p:nvPr/>
        </p:nvSpPr>
        <p:spPr>
          <a:xfrm>
            <a:off x="594360" y="5751576"/>
            <a:ext cx="4800600" cy="228600"/>
          </a:xfrm>
          <a:prstGeom prst="rect">
            <a:avLst/>
          </a:prstGeom>
          <a:noFill/>
          <a:ln/>
        </p:spPr>
        <p:txBody>
          <a:bodyPr wrap="square" lIns="0" tIns="0" rIns="0" bIns="0" rtlCol="0" anchor="ctr"/>
          <a:lstStyle/>
          <a:p>
            <a:pPr marL="0" indent="0">
              <a:buNone/>
            </a:pPr>
            <a:r>
              <a:rPr lang="en-US" sz="1150" b="1" dirty="0">
                <a:solidFill>
                  <a:srgbClr val="14162E"/>
                </a:solidFill>
                <a:latin typeface="Calibri" pitchFamily="34" charset="0"/>
                <a:ea typeface="Calibri" pitchFamily="34" charset="-122"/>
                <a:cs typeface="Calibri" pitchFamily="34" charset="-120"/>
              </a:rPr>
              <a:t>Preparación</a:t>
            </a:r>
            <a:endParaRPr lang="en-US" sz="1150" dirty="0"/>
          </a:p>
        </p:txBody>
      </p:sp>
      <p:sp>
        <p:nvSpPr>
          <p:cNvPr id="23" name="Text 21"/>
          <p:cNvSpPr txBox="1"/>
          <p:nvPr/>
        </p:nvSpPr>
        <p:spPr>
          <a:xfrm>
            <a:off x="594360" y="5971032"/>
            <a:ext cx="4800600" cy="411480"/>
          </a:xfrm>
          <a:prstGeom prst="rect">
            <a:avLst/>
          </a:prstGeom>
          <a:noFill/>
          <a:ln/>
        </p:spPr>
        <p:txBody>
          <a:bodyPr wrap="square" lIns="0" tIns="0" rIns="0" bIns="0" rtlCol="0" anchor="ctr"/>
          <a:lstStyle/>
          <a:p>
            <a:pPr marL="0" indent="0">
              <a:lnSpc>
                <a:spcPts val="1400"/>
              </a:lnSpc>
              <a:buNone/>
            </a:pPr>
            <a:r>
              <a:rPr lang="en-US" sz="1100" dirty="0">
                <a:solidFill>
                  <a:srgbClr val="5A5E7A"/>
                </a:solidFill>
                <a:latin typeface="Calibri" pitchFamily="34" charset="0"/>
                <a:ea typeface="Calibri" pitchFamily="34" charset="-122"/>
                <a:cs typeface="Calibri" pitchFamily="34" charset="-120"/>
              </a:rPr>
              <a:t>train.csv y test.csv se unificaron en combined.csv (987.671 filas).</a:t>
            </a:r>
            <a:endParaRPr lang="en-US" sz="1100" dirty="0"/>
          </a:p>
        </p:txBody>
      </p:sp>
      <p:sp>
        <p:nvSpPr>
          <p:cNvPr id="24" name="Text 22"/>
          <p:cNvSpPr txBox="1"/>
          <p:nvPr/>
        </p:nvSpPr>
        <p:spPr>
          <a:xfrm>
            <a:off x="5852160" y="1463040"/>
            <a:ext cx="5760720" cy="292608"/>
          </a:xfrm>
          <a:prstGeom prst="rect">
            <a:avLst/>
          </a:prstGeom>
          <a:noFill/>
          <a:ln/>
        </p:spPr>
        <p:txBody>
          <a:bodyPr wrap="square" lIns="0" tIns="0" rIns="0" bIns="0" rtlCol="0" anchor="ctr"/>
          <a:lstStyle/>
          <a:p>
            <a:pPr marL="0" indent="0">
              <a:buNone/>
            </a:pPr>
            <a:r>
              <a:rPr lang="en-US" sz="1500" b="1" dirty="0">
                <a:solidFill>
                  <a:srgbClr val="14162E"/>
                </a:solidFill>
                <a:latin typeface="Calibri" pitchFamily="34" charset="0"/>
                <a:ea typeface="Calibri" pitchFamily="34" charset="-122"/>
                <a:cs typeface="Calibri" pitchFamily="34" charset="-120"/>
              </a:rPr>
              <a:t>Esquema de variables</a:t>
            </a:r>
            <a:endParaRPr lang="en-US" sz="15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852160" y="1828800"/>
          <a:ext cx="5760720" cy="4096512"/>
        </p:xfrm>
        <a:graphic>
          <a:graphicData uri="http://schemas.openxmlformats.org/drawingml/2006/table">
            <a:tbl>
              <a:tblPr/>
              <a:tblGrid>
                <a:gridCol w="27432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tblGrid>
              <a:tr h="292608">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Variable</a:t>
                      </a:r>
                      <a:endParaRPr lang="en-US" sz="1000" dirty="0">
                        <a:latin typeface="Calibri" charset="0"/>
                        <a:ea typeface="Calibri" charset="0"/>
                        <a:cs typeface="Calibri" charset="0"/>
                      </a:endParaRPr>
                    </a:p>
                  </a:txBody>
                  <a:tcPr marL="54864" marR="54864" marT="54864" marB="54864" anchor="ctr">
                    <a:lnL w="6350" cap="flat" cmpd="sng" algn="ctr">
                      <a:solidFill>
                        <a:srgbClr val="D5D9EC"/>
                      </a:solidFill>
                      <a:prstDash val="solid"/>
                      <a:round/>
                      <a:headEnd type="none" w="med" len="med"/>
                      <a:tailEnd type="none" w="med" len="med"/>
                    </a:lnL>
                    <a:lnR w="6350" cap="flat" cmpd="sng" algn="ctr">
                      <a:solidFill>
                        <a:srgbClr val="D5D9EC"/>
                      </a:solidFill>
                      <a:prstDash val="solid"/>
                      <a:round/>
                      <a:headEnd type="none" w="med" len="med"/>
                      <a:tailEnd type="none" w="med" len="med"/>
                    </a:lnR>
                    <a:lnT w="6350" cap="flat" cmpd="sng" algn="ctr">
                      <a:solidFill>
                        <a:srgbClr val="D5D9EC"/>
                      </a:solidFill>
                      <a:prstDash val="solid"/>
                      <a:round/>
                      <a:headEnd type="none" w="med" len="med"/>
                      <a:tailEnd type="none" w="med" len="med"/>
                    </a:lnT>
                    <a:lnB w="6350" cap="flat" cmpd="sng" algn="ctr">
                      <a:solidFill>
                        <a:srgbClr val="D5D9EC"/>
                      </a:solidFill>
                      <a:prstDash val="solid"/>
                      <a:round/>
                      <a:headEnd type="none" w="med" len="med"/>
                      <a:tailEnd type="none" w="med" len="med"/>
                    </a:lnB>
                    <a:solidFill>
                      <a:srgbClr val="14162E"/>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Tipo</a:t>
                      </a:r>
                      <a:endParaRPr lang="en-US" sz="1000" dirty="0">
                        <a:latin typeface="Calibri" charset="0"/>
                        <a:ea typeface="Calibri" charset="0"/>
                        <a:cs typeface="Calibri" charset="0"/>
                      </a:endParaRPr>
                    </a:p>
                  </a:txBody>
                  <a:tcPr marL="54864" marR="54864" marT="54864" marB="54864" anchor="ctr">
                    <a:lnL w="6350" cap="flat" cmpd="sng" algn="ctr">
                      <a:solidFill>
                        <a:srgbClr val="D5D9EC"/>
                      </a:solidFill>
                      <a:prstDash val="solid"/>
                      <a:round/>
                      <a:headEnd type="none" w="med" len="med"/>
                      <a:tailEnd type="none" w="med" len="med"/>
                    </a:lnL>
                    <a:lnR w="6350" cap="flat" cmpd="sng" algn="ctr">
                      <a:solidFill>
                        <a:srgbClr val="D5D9EC"/>
                      </a:solidFill>
                      <a:prstDash val="solid"/>
                      <a:round/>
                      <a:headEnd type="none" w="med" len="med"/>
                      <a:tailEnd type="none" w="med" len="med"/>
                    </a:lnR>
                    <a:lnT w="6350" cap="flat" cmpd="sng" algn="ctr">
                      <a:solidFill>
                        <a:srgbClr val="D5D9EC"/>
                      </a:solidFill>
                      <a:prstDash val="solid"/>
                      <a:round/>
                      <a:headEnd type="none" w="med" len="med"/>
                      <a:tailEnd type="none" w="med" len="med"/>
                    </a:lnT>
                    <a:lnB w="6350" cap="flat" cmpd="sng" algn="ctr">
                      <a:solidFill>
                        <a:srgbClr val="D5D9EC"/>
                      </a:solidFill>
                      <a:prstDash val="solid"/>
                      <a:round/>
                      <a:headEnd type="none" w="med" len="med"/>
                      <a:tailEnd type="none" w="med" len="med"/>
                    </a:lnB>
                    <a:solidFill>
                      <a:srgbClr val="14162E"/>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Rol</a:t>
                      </a:r>
                      <a:endParaRPr lang="en-US" sz="1000" dirty="0">
                        <a:latin typeface="Calibri" charset="0"/>
                        <a:ea typeface="Calibri" charset="0"/>
                        <a:cs typeface="Calibri" charset="0"/>
                      </a:endParaRPr>
                    </a:p>
                  </a:txBody>
                  <a:tcPr marL="54864" marR="54864" marT="54864" marB="54864" anchor="ctr">
                    <a:lnL w="6350" cap="flat" cmpd="sng" algn="ctr">
                      <a:solidFill>
                        <a:srgbClr val="D5D9EC"/>
                      </a:solidFill>
                      <a:prstDash val="solid"/>
                      <a:round/>
                      <a:headEnd type="none" w="med" len="med"/>
                      <a:tailEnd type="none" w="med" len="med"/>
                    </a:lnL>
                    <a:lnR w="6350" cap="flat" cmpd="sng" algn="ctr">
                      <a:solidFill>
                        <a:srgbClr val="D5D9EC"/>
                      </a:solidFill>
                      <a:prstDash val="solid"/>
                      <a:round/>
                      <a:headEnd type="none" w="med" len="med"/>
                      <a:tailEnd type="none" w="med" len="med"/>
                    </a:lnR>
                    <a:lnT w="6350" cap="flat" cmpd="sng" algn="ctr">
                      <a:solidFill>
                        <a:srgbClr val="D5D9EC"/>
                      </a:solidFill>
                      <a:prstDash val="solid"/>
                      <a:round/>
                      <a:headEnd type="none" w="med" len="med"/>
                      <a:tailEnd type="none" w="med" len="med"/>
                    </a:lnT>
                    <a:lnB w="6350" cap="flat" cmpd="sng" algn="ctr">
                      <a:solidFill>
                        <a:srgbClr val="D5D9EC"/>
                      </a:solidFill>
                      <a:prstDash val="solid"/>
                      <a:round/>
                      <a:headEnd type="none" w="med" len="med"/>
                      <a:tailEnd type="none" w="med" len="med"/>
                    </a:lnB>
                    <a:solidFill>
                      <a:srgbClr val="14162E"/>
                    </a:solidFill>
                  </a:tcPr>
                </a:tc>
                <a:extLst>
                  <a:ext uri="{0D108BD9-81ED-4DB2-BD59-A6C34878D82A}">
                    <a16:rowId xmlns:a16="http://schemas.microsoft.com/office/drawing/2014/main" val="10000"/>
                  </a:ext>
                </a:extLst>
              </a:tr>
              <a:tr h="292608">
                <a:tc>
                  <a:txBody>
                    <a:bodyPr/>
                    <a:lstStyle/>
                    <a:p>
                      <a:pPr marL="0" indent="0">
                        <a:buNone/>
                      </a:pPr>
                      <a:r>
                        <a:rPr lang="en-US" sz="1000" dirty="0">
                          <a:solidFill>
                            <a:srgbClr val="14162E"/>
                          </a:solidFill>
                          <a:latin typeface="Calibri" pitchFamily="34" charset="0"/>
                          <a:ea typeface="Calibri" pitchFamily="34" charset="-122"/>
                          <a:cs typeface="Calibri" pitchFamily="34" charset="-120"/>
                        </a:rPr>
                        <a:t>age</a:t>
                      </a:r>
                      <a:endParaRPr lang="en-US" sz="1000" dirty="0">
                        <a:latin typeface="Calibri" charset="0"/>
                        <a:ea typeface="Calibri" charset="0"/>
                        <a:cs typeface="Calibri" charset="0"/>
                      </a:endParaRPr>
                    </a:p>
                  </a:txBody>
                  <a:tcPr marL="54864" marR="54864" marT="54864" marB="54864" anchor="ctr">
                    <a:lnL w="6350" cap="flat" cmpd="sng" algn="ctr">
                      <a:solidFill>
                        <a:srgbClr val="D5D9EC"/>
                      </a:solidFill>
                      <a:prstDash val="solid"/>
                      <a:round/>
                      <a:headEnd type="none" w="med" len="med"/>
                      <a:tailEnd type="none" w="med" len="med"/>
                    </a:lnL>
                    <a:lnR w="6350" cap="flat" cmpd="sng" algn="ctr">
                      <a:solidFill>
                        <a:srgbClr val="D5D9EC"/>
                      </a:solidFill>
                      <a:prstDash val="solid"/>
                      <a:round/>
                      <a:headEnd type="none" w="med" len="med"/>
                      <a:tailEnd type="none" w="med" len="med"/>
                    </a:lnR>
                    <a:lnT w="6350" cap="flat" cmpd="sng" algn="ctr">
                      <a:solidFill>
                        <a:srgbClr val="D5D9EC"/>
                      </a:solidFill>
                      <a:prstDash val="solid"/>
                      <a:round/>
                      <a:headEnd type="none" w="med" len="med"/>
                      <a:tailEnd type="none" w="med" len="med"/>
                    </a:lnT>
                    <a:lnB w="6350" cap="flat" cmpd="sng" algn="ctr">
                      <a:solidFill>
                        <a:srgbClr val="D5D9EC"/>
                      </a:solidFill>
                      <a:prstDash val="solid"/>
                      <a:round/>
                      <a:headEnd type="none" w="med" len="med"/>
                      <a:tailEnd type="none" w="med" len="med"/>
                    </a:lnB>
                    <a:solidFill>
                      <a:srgbClr val="FFFFFF"/>
                    </a:solidFill>
                  </a:tcPr>
                </a:tc>
                <a:tc>
                  <a:txBody>
                    <a:bodyPr/>
                    <a:lstStyle/>
                    <a:p>
                      <a:pPr marL="0" indent="0">
                        <a:buNone/>
                      </a:pPr>
                      <a:r>
                        <a:rPr lang="en-US" sz="1000" dirty="0">
                          <a:solidFill>
                            <a:srgbClr val="14162E"/>
                          </a:solidFill>
                          <a:latin typeface="Calibri" pitchFamily="34" charset="0"/>
                          <a:ea typeface="Calibri" pitchFamily="34" charset="-122"/>
                          <a:cs typeface="Calibri" pitchFamily="34" charset="-120"/>
                        </a:rPr>
                        <a:t>Numérica</a:t>
                      </a:r>
                      <a:endParaRPr lang="en-US" sz="1000" dirty="0">
                        <a:latin typeface="Calibri" charset="0"/>
                        <a:ea typeface="Calibri" charset="0"/>
                        <a:cs typeface="Calibri" charset="0"/>
                      </a:endParaRPr>
                    </a:p>
                  </a:txBody>
                  <a:tcPr marL="54864" marR="54864" marT="54864" marB="54864" anchor="ctr">
                    <a:lnL w="6350" cap="flat" cmpd="sng" algn="ctr">
                      <a:solidFill>
                        <a:srgbClr val="D5D9EC"/>
                      </a:solidFill>
                      <a:prstDash val="solid"/>
                      <a:round/>
                      <a:headEnd type="none" w="med" len="med"/>
                      <a:tailEnd type="none" w="med" len="med"/>
                    </a:lnL>
                    <a:lnR w="6350" cap="flat" cmpd="sng" algn="ctr">
                      <a:solidFill>
                        <a:srgbClr val="D5D9EC"/>
                      </a:solidFill>
                      <a:prstDash val="solid"/>
                      <a:round/>
                      <a:headEnd type="none" w="med" len="med"/>
                      <a:tailEnd type="none" w="med" len="med"/>
                    </a:lnR>
                    <a:lnT w="6350" cap="flat" cmpd="sng" algn="ctr">
                      <a:solidFill>
                        <a:srgbClr val="D5D9EC"/>
                      </a:solidFill>
                      <a:prstDash val="solid"/>
                      <a:round/>
                      <a:headEnd type="none" w="med" len="med"/>
                      <a:tailEnd type="none" w="med" len="med"/>
                    </a:lnT>
                    <a:lnB w="6350" cap="flat" cmpd="sng" algn="ctr">
                      <a:solidFill>
                        <a:srgbClr val="D5D9EC"/>
                      </a:solidFill>
                      <a:prstDash val="solid"/>
                      <a:round/>
                      <a:headEnd type="none" w="med" len="med"/>
                      <a:tailEnd type="none" w="med" len="med"/>
                    </a:lnB>
                    <a:solidFill>
                      <a:srgbClr val="FFFFFF"/>
                    </a:solidFill>
                  </a:tcPr>
                </a:tc>
                <a:tc>
                  <a:txBody>
                    <a:bodyPr/>
                    <a:lstStyle/>
                    <a:p>
                      <a:pPr marL="0" indent="0">
                        <a:buNone/>
                      </a:pPr>
                      <a:r>
                        <a:rPr lang="en-US" sz="1000" dirty="0">
                          <a:solidFill>
                            <a:srgbClr val="14162E"/>
                          </a:solidFill>
                          <a:latin typeface="Calibri" pitchFamily="34" charset="0"/>
                          <a:ea typeface="Calibri" pitchFamily="34" charset="-122"/>
                          <a:cs typeface="Calibri" pitchFamily="34" charset="-120"/>
                        </a:rPr>
                        <a:t>Predictor</a:t>
                      </a:r>
                      <a:endParaRPr lang="en-US" sz="1000" dirty="0">
                        <a:latin typeface="Calibri" charset="0"/>
                        <a:ea typeface="Calibri" charset="0"/>
                        <a:cs typeface="Calibri" charset="0"/>
                      </a:endParaRPr>
                    </a:p>
                  </a:txBody>
                  <a:tcPr marL="54864" marR="54864" marT="54864" marB="54864" anchor="ctr">
                    <a:lnL w="6350" cap="flat" cmpd="sng" algn="ctr">
                      <a:solidFill>
                        <a:srgbClr val="D5D9EC"/>
                      </a:solidFill>
                      <a:prstDash val="solid"/>
                      <a:round/>
                      <a:headEnd type="none" w="med" len="med"/>
                      <a:tailEnd type="none" w="med" len="med"/>
                    </a:lnL>
                    <a:lnR w="6350" cap="flat" cmpd="sng" algn="ctr">
                      <a:solidFill>
                        <a:srgbClr val="D5D9EC"/>
                      </a:solidFill>
                      <a:prstDash val="solid"/>
                      <a:round/>
                      <a:headEnd type="none" w="med" len="med"/>
                      <a:tailEnd type="none" w="med" len="med"/>
                    </a:lnR>
                    <a:lnT w="6350" cap="flat" cmpd="sng" algn="ctr">
                      <a:solidFill>
                        <a:srgbClr val="D5D9EC"/>
                      </a:solidFill>
                      <a:prstDash val="solid"/>
                      <a:round/>
                      <a:headEnd type="none" w="med" len="med"/>
                      <a:tailEnd type="none" w="med" len="med"/>
                    </a:lnT>
                    <a:lnB w="6350" cap="flat" cmpd="sng" algn="ctr">
                      <a:solidFill>
                        <a:srgbClr val="D5D9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buNone/>
                      </a:pPr>
                      <a:r>
                        <a:rPr lang="en-US" sz="1000" dirty="0">
                          <a:solidFill>
                            <a:srgbClr val="14162E"/>
                          </a:solidFill>
                          <a:latin typeface="Calibri" pitchFamily="34" charset="0"/>
                          <a:ea typeface="Calibri" pitchFamily="34" charset="-122"/>
                          <a:cs typeface="Calibri" pitchFamily="34" charset="-120"/>
                        </a:rPr>
                        <a:t>daily_screen_time_hours</a:t>
                      </a:r>
                      <a:endParaRPr lang="en-US" sz="1000" dirty="0">
                        <a:latin typeface="Calibri" charset="0"/>
                        <a:ea typeface="Calibri" charset="0"/>
                        <a:cs typeface="Calibri" charset="0"/>
                      </a:endParaRPr>
                    </a:p>
                  </a:txBody>
                  <a:tcPr marL="54864" marR="54864" marT="54864" marB="54864" anchor="ctr">
                    <a:lnL w="6350" cap="flat" cmpd="sng" algn="ctr">
                      <a:solidFill>
                        <a:srgbClr val="D5D9EC"/>
                      </a:solidFill>
                      <a:prstDash val="solid"/>
                      <a:round/>
                      <a:headEnd type="none" w="med" len="med"/>
                      <a:tailEnd type="none" w="med" len="med"/>
                    </a:lnL>
                    <a:lnR w="6350" cap="flat" cmpd="sng" algn="ctr">
                      <a:solidFill>
                        <a:srgbClr val="D5D9EC"/>
                      </a:solidFill>
                      <a:prstDash val="solid"/>
                      <a:round/>
                      <a:headEnd type="none" w="med" len="med"/>
                      <a:tailEnd type="none" w="med" len="med"/>
                    </a:lnR>
                    <a:lnT w="6350" cap="flat" cmpd="sng" algn="ctr">
                      <a:solidFill>
                        <a:srgbClr val="D5D9EC"/>
                      </a:solidFill>
                      <a:prstDash val="solid"/>
                      <a:round/>
                      <a:headEnd type="none" w="med" len="med"/>
                      <a:tailEnd type="none" w="med" len="med"/>
                    </a:lnT>
                    <a:lnB w="6350" cap="flat" cmpd="sng" algn="ctr">
                      <a:solidFill>
                        <a:srgbClr val="D5D9EC"/>
                      </a:solidFill>
                      <a:prstDash val="solid"/>
                      <a:round/>
                      <a:headEnd type="none" w="med" len="med"/>
                      <a:tailEnd type="none" w="med" len="med"/>
                    </a:lnB>
                    <a:solidFill>
                      <a:srgbClr val="FFFFFF"/>
                    </a:solidFill>
                  </a:tcPr>
                </a:tc>
                <a:tc>
                  <a:txBody>
                    <a:bodyPr/>
                    <a:lstStyle/>
                    <a:p>
                      <a:pPr marL="0" indent="0">
                        <a:buNone/>
                      </a:pPr>
                      <a:r>
                        <a:rPr lang="en-US" sz="1000" dirty="0">
                          <a:solidFill>
                            <a:srgbClr val="14162E"/>
                          </a:solidFill>
                          <a:latin typeface="Calibri" pitchFamily="34" charset="0"/>
                          <a:ea typeface="Calibri" pitchFamily="34" charset="-122"/>
                          <a:cs typeface="Calibri" pitchFamily="34" charset="-120"/>
                        </a:rPr>
                        <a:t>Numérica</a:t>
                      </a:r>
                      <a:endParaRPr lang="en-US" sz="1000" dirty="0">
                        <a:latin typeface="Calibri" charset="0"/>
                        <a:ea typeface="Calibri" charset="0"/>
                        <a:cs typeface="Calibri" charset="0"/>
                      </a:endParaRPr>
                    </a:p>
                  </a:txBody>
                  <a:tcPr marL="54864" marR="54864" marT="54864" marB="54864" anchor="ctr">
                    <a:lnL w="6350" cap="flat" cmpd="sng" algn="ctr">
                      <a:solidFill>
                        <a:srgbClr val="D5D9EC"/>
                      </a:solidFill>
                      <a:prstDash val="solid"/>
                      <a:round/>
                      <a:headEnd type="none" w="med" len="med"/>
                      <a:tailEnd type="none" w="med" len="med"/>
                    </a:lnL>
                    <a:lnR w="6350" cap="flat" cmpd="sng" algn="ctr">
                      <a:solidFill>
                        <a:srgbClr val="D5D9EC"/>
                      </a:solidFill>
                      <a:prstDash val="solid"/>
                      <a:round/>
                      <a:headEnd type="none" w="med" len="med"/>
                      <a:tailEnd type="none" w="med" len="med"/>
                    </a:lnR>
                    <a:lnT w="6350" cap="flat" cmpd="sng" algn="ctr">
                      <a:solidFill>
                        <a:srgbClr val="D5D9EC"/>
                      </a:solidFill>
                      <a:prstDash val="solid"/>
                      <a:round/>
                      <a:headEnd type="none" w="med" len="med"/>
                      <a:tailEnd type="none" w="med" len="med"/>
                    </a:lnT>
                    <a:lnB w="6350" cap="flat" cmpd="sng" algn="ctr">
                      <a:solidFill>
                        <a:srgbClr val="D5D9EC"/>
                      </a:solidFill>
                      <a:prstDash val="solid"/>
                      <a:round/>
                      <a:headEnd type="none" w="med" len="med"/>
                      <a:tailEnd type="none" w="med" len="med"/>
                    </a:lnB>
                    <a:solidFill>
                      <a:srgbClr val="FFFFFF"/>
                    </a:solidFill>
                  </a:tcPr>
                </a:tc>
                <a:tc>
                  <a:txBody>
                    <a:bodyPr/>
                    <a:lstStyle/>
                    <a:p>
                      <a:pPr marL="0" indent="0">
                        <a:buNone/>
                      </a:pPr>
                      <a:r>
                        <a:rPr lang="en-US" sz="1000" dirty="0">
                          <a:solidFill>
                            <a:srgbClr val="14162E"/>
                          </a:solidFill>
                          <a:latin typeface="Calibri" pitchFamily="34" charset="0"/>
                          <a:ea typeface="Calibri" pitchFamily="34" charset="-122"/>
                          <a:cs typeface="Calibri" pitchFamily="34" charset="-120"/>
                        </a:rPr>
                        <a:t>Predictor</a:t>
                      </a:r>
                      <a:endParaRPr lang="en-US" sz="1000" dirty="0">
                        <a:latin typeface="Calibri" charset="0"/>
                        <a:ea typeface="Calibri" charset="0"/>
                        <a:cs typeface="Calibri" charset="0"/>
                      </a:endParaRPr>
                    </a:p>
                  </a:txBody>
                  <a:tcPr marL="54864" marR="54864" marT="54864" marB="54864" anchor="ctr">
                    <a:lnL w="6350" cap="flat" cmpd="sng" algn="ctr">
                      <a:solidFill>
                        <a:srgbClr val="D5D9EC"/>
                      </a:solidFill>
                      <a:prstDash val="solid"/>
                      <a:round/>
                      <a:headEnd type="none" w="med" len="med"/>
                      <a:tailEnd type="none" w="med" len="med"/>
                    </a:lnL>
                    <a:lnR w="6350" cap="flat" cmpd="sng" algn="ctr">
                      <a:solidFill>
                        <a:srgbClr val="D5D9EC"/>
                      </a:solidFill>
                      <a:prstDash val="solid"/>
                      <a:round/>
                      <a:headEnd type="none" w="med" len="med"/>
                      <a:tailEnd type="none" w="med" len="med"/>
                    </a:lnR>
                    <a:lnT w="6350" cap="flat" cmpd="sng" algn="ctr">
                      <a:solidFill>
                        <a:srgbClr val="D5D9EC"/>
                      </a:solidFill>
                      <a:prstDash val="solid"/>
                      <a:round/>
                      <a:headEnd type="none" w="med" len="med"/>
                      <a:tailEnd type="none" w="med" len="med"/>
                    </a:lnT>
                    <a:lnB w="6350" cap="flat" cmpd="sng" algn="ctr">
                      <a:solidFill>
                        <a:srgbClr val="D5D9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2608">
                <a:tc>
                  <a:txBody>
                    <a:bodyPr/>
                    <a:lstStyle/>
                    <a:p>
                      <a:pPr marL="0" indent="0">
                        <a:buNone/>
                      </a:pPr>
                      <a:r>
                        <a:rPr lang="en-US" sz="1000" dirty="0">
                          <a:solidFill>
                            <a:srgbClr val="14162E"/>
                          </a:solidFill>
                          <a:latin typeface="Calibri" pitchFamily="34" charset="0"/>
                          <a:ea typeface="Calibri" pitchFamily="34" charset="-122"/>
                          <a:cs typeface="Calibri" pitchFamily="34" charset="-120"/>
                        </a:rPr>
                        <a:t>weekend_screen_time</a:t>
                      </a:r>
                      <a:endParaRPr lang="en-US" sz="1000" dirty="0">
                        <a:latin typeface="Calibri" charset="0"/>
                        <a:ea typeface="Calibri" charset="0"/>
                        <a:cs typeface="Calibri" charset="0"/>
                      </a:endParaRPr>
                    </a:p>
                  </a:txBody>
                  <a:tcPr marL="54864" marR="54864" marT="54864" marB="54864" anchor="ctr">
                    <a:lnL w="6350" cap="flat" cmpd="sng" algn="ctr">
                      <a:solidFill>
                        <a:srgbClr val="D5D9EC"/>
                      </a:solidFill>
                      <a:prstDash val="solid"/>
                      <a:round/>
                      <a:headEnd type="none" w="med" len="med"/>
                      <a:tailEnd type="none" w="med" len="med"/>
                    </a:lnL>
                    <a:lnR w="6350" cap="flat" cmpd="sng" algn="ctr">
                      <a:solidFill>
                        <a:srgbClr val="D5D9EC"/>
                      </a:solidFill>
                      <a:prstDash val="solid"/>
                      <a:round/>
                      <a:headEnd type="none" w="med" len="med"/>
                      <a:tailEnd type="none" w="med" len="med"/>
                    </a:lnR>
                    <a:lnT w="6350" cap="flat" cmpd="sng" algn="ctr">
                      <a:solidFill>
                        <a:srgbClr val="D5D9EC"/>
                      </a:solidFill>
                      <a:prstDash val="solid"/>
                      <a:round/>
                      <a:headEnd type="none" w="med" len="med"/>
                      <a:tailEnd type="none" w="med" len="med"/>
                    </a:lnT>
                    <a:lnB w="6350" cap="flat" cmpd="sng" algn="ctr">
                      <a:solidFill>
                        <a:srgbClr val="D5D9EC"/>
                      </a:solidFill>
                      <a:prstDash val="solid"/>
                      <a:round/>
                      <a:headEnd type="none" w="med" len="med"/>
                      <a:tailEnd type="none" w="med" len="med"/>
                    </a:lnB>
                    <a:solidFill>
                      <a:srgbClr val="FFFFFF"/>
                    </a:solidFill>
                  </a:tcPr>
                </a:tc>
                <a:tc>
                  <a:txBody>
                    <a:bodyPr/>
                    <a:lstStyle/>
                    <a:p>
                      <a:pPr marL="0" indent="0">
                        <a:buNone/>
                      </a:pPr>
                      <a:r>
                        <a:rPr lang="en-US" sz="1000" dirty="0">
                          <a:solidFill>
                            <a:srgbClr val="14162E"/>
                          </a:solidFill>
                          <a:latin typeface="Calibri" pitchFamily="34" charset="0"/>
                          <a:ea typeface="Calibri" pitchFamily="34" charset="-122"/>
                          <a:cs typeface="Calibri" pitchFamily="34" charset="-120"/>
                        </a:rPr>
                        <a:t>Numérica</a:t>
                      </a:r>
                      <a:endParaRPr lang="en-US" sz="1000" dirty="0">
                        <a:latin typeface="Calibri" charset="0"/>
                        <a:ea typeface="Calibri" charset="0"/>
                        <a:cs typeface="Calibri" charset="0"/>
                      </a:endParaRPr>
                    </a:p>
                  </a:txBody>
                  <a:tcPr marL="54864" marR="54864" marT="54864" marB="54864" anchor="ctr">
                    <a:lnL w="6350" cap="flat" cmpd="sng" algn="ctr">
                      <a:solidFill>
                        <a:srgbClr val="D5D9EC"/>
                      </a:solidFill>
                      <a:prstDash val="solid"/>
                      <a:round/>
                      <a:headEnd type="none" w="med" len="med"/>
                      <a:tailEnd type="none" w="med" len="med"/>
                    </a:lnL>
                    <a:lnR w="6350" cap="flat" cmpd="sng" algn="ctr">
                      <a:solidFill>
                        <a:srgbClr val="D5D9EC"/>
                      </a:solidFill>
                      <a:prstDash val="solid"/>
                      <a:round/>
                      <a:headEnd type="none" w="med" len="med"/>
                      <a:tailEnd type="none" w="med" len="med"/>
                    </a:lnR>
                    <a:lnT w="6350" cap="flat" cmpd="sng" algn="ctr">
                      <a:solidFill>
                        <a:srgbClr val="D5D9EC"/>
                      </a:solidFill>
                      <a:prstDash val="solid"/>
                      <a:round/>
                      <a:headEnd type="none" w="med" len="med"/>
                      <a:tailEnd type="none" w="med" len="med"/>
                    </a:lnT>
                    <a:lnB w="6350" cap="flat" cmpd="sng" algn="ctr">
                      <a:solidFill>
                        <a:srgbClr val="D5D9EC"/>
                      </a:solidFill>
                      <a:prstDash val="solid"/>
                      <a:round/>
                      <a:headEnd type="none" w="med" len="med"/>
                      <a:tailEnd type="none" w="med" len="med"/>
                    </a:lnB>
                    <a:solidFill>
                      <a:srgbClr val="FFFFFF"/>
                    </a:solidFill>
                  </a:tcPr>
                </a:tc>
                <a:tc>
                  <a:txBody>
                    <a:bodyPr/>
                    <a:lstStyle/>
                    <a:p>
                      <a:pPr marL="0" indent="0">
                        <a:buNone/>
                      </a:pPr>
                      <a:r>
                        <a:rPr lang="en-US" sz="1000" dirty="0">
                          <a:solidFill>
                            <a:srgbClr val="14162E"/>
                          </a:solidFill>
                          <a:latin typeface="Calibri" pitchFamily="34" charset="0"/>
                          <a:ea typeface="Calibri" pitchFamily="34" charset="-122"/>
                          <a:cs typeface="Calibri" pitchFamily="34" charset="-120"/>
                        </a:rPr>
                        <a:t>Predictor</a:t>
                      </a:r>
                      <a:endParaRPr lang="en-US" sz="1000" dirty="0">
                        <a:latin typeface="Calibri" charset="0"/>
                        <a:ea typeface="Calibri" charset="0"/>
                        <a:cs typeface="Calibri" charset="0"/>
                      </a:endParaRPr>
                    </a:p>
                  </a:txBody>
                  <a:tcPr marL="54864" marR="54864" marT="54864" marB="54864" anchor="ctr">
                    <a:lnL w="6350" cap="flat" cmpd="sng" algn="ctr">
                      <a:solidFill>
                        <a:srgbClr val="D5D9EC"/>
                      </a:solidFill>
                      <a:prstDash val="solid"/>
                      <a:round/>
                      <a:headEnd type="none" w="med" len="med"/>
                      <a:tailEnd type="none" w="med" len="med"/>
                    </a:lnL>
                    <a:lnR w="6350" cap="flat" cmpd="sng" algn="ctr">
                      <a:solidFill>
                        <a:srgbClr val="D5D9EC"/>
                      </a:solidFill>
                      <a:prstDash val="solid"/>
                      <a:round/>
                      <a:headEnd type="none" w="med" len="med"/>
                      <a:tailEnd type="none" w="med" len="med"/>
                    </a:lnR>
                    <a:lnT w="6350" cap="flat" cmpd="sng" algn="ctr">
                      <a:solidFill>
                        <a:srgbClr val="D5D9EC"/>
                      </a:solidFill>
                      <a:prstDash val="solid"/>
                      <a:round/>
                      <a:headEnd type="none" w="med" len="med"/>
                      <a:tailEnd type="none" w="med" len="med"/>
                    </a:lnT>
                    <a:lnB w="6350" cap="flat" cmpd="sng" algn="ctr">
                      <a:solidFill>
                        <a:srgbClr val="D5D9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2608">
                <a:tc>
                  <a:txBody>
                    <a:bodyPr/>
                    <a:lstStyle/>
                    <a:p>
                      <a:pPr marL="0" indent="0">
                        <a:buNone/>
                      </a:pPr>
                      <a:r>
                        <a:rPr lang="en-US" sz="1000" dirty="0">
                          <a:solidFill>
                            <a:srgbClr val="14162E"/>
                          </a:solidFill>
                          <a:latin typeface="Calibri" pitchFamily="34" charset="0"/>
                          <a:ea typeface="Calibri" pitchFamily="34" charset="-122"/>
                          <a:cs typeface="Calibri" pitchFamily="34" charset="-120"/>
                        </a:rPr>
                        <a:t>social_media_hours</a:t>
                      </a:r>
                      <a:endParaRPr lang="en-US" sz="1000" dirty="0">
                        <a:latin typeface="Calibri" charset="0"/>
                        <a:ea typeface="Calibri" charset="0"/>
                        <a:cs typeface="Calibri" charset="0"/>
                      </a:endParaRPr>
                    </a:p>
                  </a:txBody>
                  <a:tcPr marL="54864" marR="54864" marT="54864" marB="54864" anchor="ctr">
                    <a:lnL w="6350" cap="flat" cmpd="sng" algn="ctr">
                      <a:solidFill>
                        <a:srgbClr val="D5D9EC"/>
                      </a:solidFill>
                      <a:prstDash val="solid"/>
                      <a:round/>
                      <a:headEnd type="none" w="med" len="med"/>
                      <a:tailEnd type="none" w="med" len="med"/>
                    </a:lnL>
                    <a:lnR w="6350" cap="flat" cmpd="sng" algn="ctr">
                      <a:solidFill>
                        <a:srgbClr val="D5D9EC"/>
                      </a:solidFill>
                      <a:prstDash val="solid"/>
                      <a:round/>
                      <a:headEnd type="none" w="med" len="med"/>
                      <a:tailEnd type="none" w="med" len="med"/>
                    </a:lnR>
                    <a:lnT w="6350" cap="flat" cmpd="sng" algn="ctr">
                      <a:solidFill>
                        <a:srgbClr val="D5D9EC"/>
                      </a:solidFill>
                      <a:prstDash val="solid"/>
                      <a:round/>
                      <a:headEnd type="none" w="med" len="med"/>
                      <a:tailEnd type="none" w="med" len="med"/>
                    </a:lnT>
                    <a:lnB w="6350" cap="flat" cmpd="sng" algn="ctr">
                      <a:solidFill>
                        <a:srgbClr val="D5D9EC"/>
                      </a:solidFill>
                      <a:prstDash val="solid"/>
                      <a:round/>
                      <a:headEnd type="none" w="med" len="med"/>
                      <a:tailEnd type="none" w="med" len="med"/>
                    </a:lnB>
                    <a:solidFill>
                      <a:srgbClr val="FFFFFF"/>
                    </a:solidFill>
                  </a:tcPr>
                </a:tc>
                <a:tc>
                  <a:txBody>
                    <a:bodyPr/>
                    <a:lstStyle/>
                    <a:p>
                      <a:pPr marL="0" indent="0">
                        <a:buNone/>
                      </a:pPr>
                      <a:r>
                        <a:rPr lang="en-US" sz="1000" dirty="0">
                          <a:solidFill>
                            <a:srgbClr val="14162E"/>
                          </a:solidFill>
                          <a:latin typeface="Calibri" pitchFamily="34" charset="0"/>
                          <a:ea typeface="Calibri" pitchFamily="34" charset="-122"/>
                          <a:cs typeface="Calibri" pitchFamily="34" charset="-120"/>
                        </a:rPr>
                        <a:t>Numérica</a:t>
                      </a:r>
                      <a:endParaRPr lang="en-US" sz="1000" dirty="0">
                        <a:latin typeface="Calibri" charset="0"/>
                        <a:ea typeface="Calibri" charset="0"/>
                        <a:cs typeface="Calibri" charset="0"/>
                      </a:endParaRPr>
                    </a:p>
                  </a:txBody>
                  <a:tcPr marL="54864" marR="54864" marT="54864" marB="54864" anchor="ctr">
                    <a:lnL w="6350" cap="flat" cmpd="sng" algn="ctr">
                      <a:solidFill>
                        <a:srgbClr val="D5D9EC"/>
                      </a:solidFill>
                      <a:prstDash val="solid"/>
                      <a:round/>
                      <a:headEnd type="none" w="med" len="med"/>
                      <a:tailEnd type="none" w="med" len="med"/>
                    </a:lnL>
                    <a:lnR w="6350" cap="flat" cmpd="sng" algn="ctr">
                      <a:solidFill>
                        <a:srgbClr val="D5D9EC"/>
                      </a:solidFill>
                      <a:prstDash val="solid"/>
                      <a:round/>
                      <a:headEnd type="none" w="med" len="med"/>
                      <a:tailEnd type="none" w="med" len="med"/>
                    </a:lnR>
                    <a:lnT w="6350" cap="flat" cmpd="sng" algn="ctr">
                      <a:solidFill>
                        <a:srgbClr val="D5D9EC"/>
                      </a:solidFill>
                      <a:prstDash val="solid"/>
                      <a:round/>
                      <a:headEnd type="none" w="med" len="med"/>
                      <a:tailEnd type="none" w="med" len="med"/>
                    </a:lnT>
                    <a:lnB w="6350" cap="flat" cmpd="sng" algn="ctr">
                      <a:solidFill>
                        <a:srgbClr val="D5D9EC"/>
                      </a:solidFill>
                      <a:prstDash val="solid"/>
                      <a:round/>
                      <a:headEnd type="none" w="med" len="med"/>
                      <a:tailEnd type="none" w="med" len="med"/>
                    </a:lnB>
                    <a:solidFill>
                      <a:srgbClr val="FFFFFF"/>
                    </a:solidFill>
                  </a:tcPr>
                </a:tc>
                <a:tc>
                  <a:txBody>
                    <a:bodyPr/>
                    <a:lstStyle/>
                    <a:p>
                      <a:pPr marL="0" indent="0">
                        <a:buNone/>
                      </a:pPr>
                      <a:r>
                        <a:rPr lang="en-US" sz="1000" dirty="0">
                          <a:solidFill>
                            <a:srgbClr val="14162E"/>
                          </a:solidFill>
                          <a:latin typeface="Calibri" pitchFamily="34" charset="0"/>
                          <a:ea typeface="Calibri" pitchFamily="34" charset="-122"/>
                          <a:cs typeface="Calibri" pitchFamily="34" charset="-120"/>
                        </a:rPr>
                        <a:t>Predictor</a:t>
                      </a:r>
                      <a:endParaRPr lang="en-US" sz="1000" dirty="0">
                        <a:latin typeface="Calibri" charset="0"/>
                        <a:ea typeface="Calibri" charset="0"/>
                        <a:cs typeface="Calibri" charset="0"/>
                      </a:endParaRPr>
                    </a:p>
                  </a:txBody>
                  <a:tcPr marL="54864" marR="54864" marT="54864" marB="54864" anchor="ctr">
                    <a:lnL w="6350" cap="flat" cmpd="sng" algn="ctr">
                      <a:solidFill>
                        <a:srgbClr val="D5D9EC"/>
                      </a:solidFill>
                      <a:prstDash val="solid"/>
                      <a:round/>
                      <a:headEnd type="none" w="med" len="med"/>
                      <a:tailEnd type="none" w="med" len="med"/>
                    </a:lnL>
                    <a:lnR w="6350" cap="flat" cmpd="sng" algn="ctr">
                      <a:solidFill>
                        <a:srgbClr val="D5D9EC"/>
                      </a:solidFill>
                      <a:prstDash val="solid"/>
                      <a:round/>
                      <a:headEnd type="none" w="med" len="med"/>
                      <a:tailEnd type="none" w="med" len="med"/>
                    </a:lnR>
                    <a:lnT w="6350" cap="flat" cmpd="sng" algn="ctr">
                      <a:solidFill>
                        <a:srgbClr val="D5D9EC"/>
                      </a:solidFill>
                      <a:prstDash val="solid"/>
                      <a:round/>
                      <a:headEnd type="none" w="med" len="med"/>
                      <a:tailEnd type="none" w="med" len="med"/>
                    </a:lnT>
                    <a:lnB w="6350" cap="flat" cmpd="sng" algn="ctr">
                      <a:solidFill>
                        <a:srgbClr val="D5D9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92608">
                <a:tc>
                  <a:txBody>
                    <a:bodyPr/>
                    <a:lstStyle/>
                    <a:p>
                      <a:pPr marL="0" indent="0">
                        <a:buNone/>
                      </a:pPr>
                      <a:r>
                        <a:rPr lang="en-US" sz="1000" dirty="0">
                          <a:solidFill>
                            <a:srgbClr val="14162E"/>
                          </a:solidFill>
                          <a:latin typeface="Calibri" pitchFamily="34" charset="0"/>
                          <a:ea typeface="Calibri" pitchFamily="34" charset="-122"/>
                          <a:cs typeface="Calibri" pitchFamily="34" charset="-120"/>
                        </a:rPr>
                        <a:t>gaming_hours</a:t>
                      </a:r>
                      <a:endParaRPr lang="en-US" sz="1000" dirty="0">
                        <a:latin typeface="Calibri" charset="0"/>
                        <a:ea typeface="Calibri" charset="0"/>
                        <a:cs typeface="Calibri" charset="0"/>
                      </a:endParaRPr>
                    </a:p>
                  </a:txBody>
                  <a:tcPr marL="54864" marR="54864" marT="54864" marB="54864" anchor="ctr">
                    <a:lnL w="6350" cap="flat" cmpd="sng" algn="ctr">
                      <a:solidFill>
                        <a:srgbClr val="D5D9EC"/>
                      </a:solidFill>
                      <a:prstDash val="solid"/>
                      <a:round/>
                      <a:headEnd type="none" w="med" len="med"/>
                      <a:tailEnd type="none" w="med" len="med"/>
                    </a:lnL>
                    <a:lnR w="6350" cap="flat" cmpd="sng" algn="ctr">
                      <a:solidFill>
                        <a:srgbClr val="D5D9EC"/>
                      </a:solidFill>
                      <a:prstDash val="solid"/>
                      <a:round/>
                      <a:headEnd type="none" w="med" len="med"/>
                      <a:tailEnd type="none" w="med" len="med"/>
                    </a:lnR>
                    <a:lnT w="6350" cap="flat" cmpd="sng" algn="ctr">
                      <a:solidFill>
                        <a:srgbClr val="D5D9EC"/>
                      </a:solidFill>
                      <a:prstDash val="solid"/>
                      <a:round/>
                      <a:headEnd type="none" w="med" len="med"/>
                      <a:tailEnd type="none" w="med" len="med"/>
                    </a:lnT>
                    <a:lnB w="6350" cap="flat" cmpd="sng" algn="ctr">
                      <a:solidFill>
                        <a:srgbClr val="D5D9EC"/>
                      </a:solidFill>
                      <a:prstDash val="solid"/>
                      <a:round/>
                      <a:headEnd type="none" w="med" len="med"/>
                      <a:tailEnd type="none" w="med" len="med"/>
                    </a:lnB>
                    <a:solidFill>
                      <a:srgbClr val="FFFFFF"/>
                    </a:solidFill>
                  </a:tcPr>
                </a:tc>
                <a:tc>
                  <a:txBody>
                    <a:bodyPr/>
                    <a:lstStyle/>
                    <a:p>
                      <a:pPr marL="0" indent="0">
                        <a:buNone/>
                      </a:pPr>
                      <a:r>
                        <a:rPr lang="en-US" sz="1000" dirty="0">
                          <a:solidFill>
                            <a:srgbClr val="14162E"/>
                          </a:solidFill>
                          <a:latin typeface="Calibri" pitchFamily="34" charset="0"/>
                          <a:ea typeface="Calibri" pitchFamily="34" charset="-122"/>
                          <a:cs typeface="Calibri" pitchFamily="34" charset="-120"/>
                        </a:rPr>
                        <a:t>Numérica</a:t>
                      </a:r>
                      <a:endParaRPr lang="en-US" sz="1000" dirty="0">
                        <a:latin typeface="Calibri" charset="0"/>
                        <a:ea typeface="Calibri" charset="0"/>
                        <a:cs typeface="Calibri" charset="0"/>
                      </a:endParaRPr>
                    </a:p>
                  </a:txBody>
                  <a:tcPr marL="54864" marR="54864" marT="54864" marB="54864" anchor="ctr">
                    <a:lnL w="6350" cap="flat" cmpd="sng" algn="ctr">
                      <a:solidFill>
                        <a:srgbClr val="D5D9EC"/>
                      </a:solidFill>
                      <a:prstDash val="solid"/>
                      <a:round/>
                      <a:headEnd type="none" w="med" len="med"/>
                      <a:tailEnd type="none" w="med" len="med"/>
                    </a:lnL>
                    <a:lnR w="6350" cap="flat" cmpd="sng" algn="ctr">
                      <a:solidFill>
                        <a:srgbClr val="D5D9EC"/>
                      </a:solidFill>
                      <a:prstDash val="solid"/>
                      <a:round/>
                      <a:headEnd type="none" w="med" len="med"/>
                      <a:tailEnd type="none" w="med" len="med"/>
                    </a:lnR>
                    <a:lnT w="6350" cap="flat" cmpd="sng" algn="ctr">
                      <a:solidFill>
                        <a:srgbClr val="D5D9EC"/>
                      </a:solidFill>
                      <a:prstDash val="solid"/>
                      <a:round/>
                      <a:headEnd type="none" w="med" len="med"/>
                      <a:tailEnd type="none" w="med" len="med"/>
                    </a:lnT>
                    <a:lnB w="6350" cap="flat" cmpd="sng" algn="ctr">
                      <a:solidFill>
                        <a:srgbClr val="D5D9EC"/>
                      </a:solidFill>
                      <a:prstDash val="solid"/>
                      <a:round/>
                      <a:headEnd type="none" w="med" len="med"/>
                      <a:tailEnd type="none" w="med" len="med"/>
                    </a:lnB>
                    <a:solidFill>
                      <a:srgbClr val="FFFFFF"/>
                    </a:solidFill>
                  </a:tcPr>
                </a:tc>
                <a:tc>
                  <a:txBody>
                    <a:bodyPr/>
                    <a:lstStyle/>
                    <a:p>
                      <a:pPr marL="0" indent="0">
                        <a:buNone/>
                      </a:pPr>
                      <a:r>
                        <a:rPr lang="en-US" sz="1000" dirty="0">
                          <a:solidFill>
                            <a:srgbClr val="14162E"/>
                          </a:solidFill>
                          <a:latin typeface="Calibri" pitchFamily="34" charset="0"/>
                          <a:ea typeface="Calibri" pitchFamily="34" charset="-122"/>
                          <a:cs typeface="Calibri" pitchFamily="34" charset="-120"/>
                        </a:rPr>
                        <a:t>Predictor</a:t>
                      </a:r>
                      <a:endParaRPr lang="en-US" sz="1000" dirty="0">
                        <a:latin typeface="Calibri" charset="0"/>
                        <a:ea typeface="Calibri" charset="0"/>
                        <a:cs typeface="Calibri" charset="0"/>
                      </a:endParaRPr>
                    </a:p>
                  </a:txBody>
                  <a:tcPr marL="54864" marR="54864" marT="54864" marB="54864" anchor="ctr">
                    <a:lnL w="6350" cap="flat" cmpd="sng" algn="ctr">
                      <a:solidFill>
                        <a:srgbClr val="D5D9EC"/>
                      </a:solidFill>
                      <a:prstDash val="solid"/>
                      <a:round/>
                      <a:headEnd type="none" w="med" len="med"/>
                      <a:tailEnd type="none" w="med" len="med"/>
                    </a:lnL>
                    <a:lnR w="6350" cap="flat" cmpd="sng" algn="ctr">
                      <a:solidFill>
                        <a:srgbClr val="D5D9EC"/>
                      </a:solidFill>
                      <a:prstDash val="solid"/>
                      <a:round/>
                      <a:headEnd type="none" w="med" len="med"/>
                      <a:tailEnd type="none" w="med" len="med"/>
                    </a:lnR>
                    <a:lnT w="6350" cap="flat" cmpd="sng" algn="ctr">
                      <a:solidFill>
                        <a:srgbClr val="D5D9EC"/>
                      </a:solidFill>
                      <a:prstDash val="solid"/>
                      <a:round/>
                      <a:headEnd type="none" w="med" len="med"/>
                      <a:tailEnd type="none" w="med" len="med"/>
                    </a:lnT>
                    <a:lnB w="6350" cap="flat" cmpd="sng" algn="ctr">
                      <a:solidFill>
                        <a:srgbClr val="D5D9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92608">
                <a:tc>
                  <a:txBody>
                    <a:bodyPr/>
                    <a:lstStyle/>
                    <a:p>
                      <a:pPr marL="0" indent="0">
                        <a:buNone/>
                      </a:pPr>
                      <a:r>
                        <a:rPr lang="en-US" sz="1000" dirty="0">
                          <a:solidFill>
                            <a:srgbClr val="14162E"/>
                          </a:solidFill>
                          <a:latin typeface="Calibri" pitchFamily="34" charset="0"/>
                          <a:ea typeface="Calibri" pitchFamily="34" charset="-122"/>
                          <a:cs typeface="Calibri" pitchFamily="34" charset="-120"/>
                        </a:rPr>
                        <a:t>work_study_hours</a:t>
                      </a:r>
                      <a:endParaRPr lang="en-US" sz="1000" dirty="0">
                        <a:latin typeface="Calibri" charset="0"/>
                        <a:ea typeface="Calibri" charset="0"/>
                        <a:cs typeface="Calibri" charset="0"/>
                      </a:endParaRPr>
                    </a:p>
                  </a:txBody>
                  <a:tcPr marL="54864" marR="54864" marT="54864" marB="54864" anchor="ctr">
                    <a:lnL w="6350" cap="flat" cmpd="sng" algn="ctr">
                      <a:solidFill>
                        <a:srgbClr val="D5D9EC"/>
                      </a:solidFill>
                      <a:prstDash val="solid"/>
                      <a:round/>
                      <a:headEnd type="none" w="med" len="med"/>
                      <a:tailEnd type="none" w="med" len="med"/>
                    </a:lnL>
                    <a:lnR w="6350" cap="flat" cmpd="sng" algn="ctr">
                      <a:solidFill>
                        <a:srgbClr val="D5D9EC"/>
                      </a:solidFill>
                      <a:prstDash val="solid"/>
                      <a:round/>
                      <a:headEnd type="none" w="med" len="med"/>
                      <a:tailEnd type="none" w="med" len="med"/>
                    </a:lnR>
                    <a:lnT w="6350" cap="flat" cmpd="sng" algn="ctr">
                      <a:solidFill>
                        <a:srgbClr val="D5D9EC"/>
                      </a:solidFill>
                      <a:prstDash val="solid"/>
                      <a:round/>
                      <a:headEnd type="none" w="med" len="med"/>
                      <a:tailEnd type="none" w="med" len="med"/>
                    </a:lnT>
                    <a:lnB w="6350" cap="flat" cmpd="sng" algn="ctr">
                      <a:solidFill>
                        <a:srgbClr val="D5D9EC"/>
                      </a:solidFill>
                      <a:prstDash val="solid"/>
                      <a:round/>
                      <a:headEnd type="none" w="med" len="med"/>
                      <a:tailEnd type="none" w="med" len="med"/>
                    </a:lnB>
                    <a:solidFill>
                      <a:srgbClr val="FFFFFF"/>
                    </a:solidFill>
                  </a:tcPr>
                </a:tc>
                <a:tc>
                  <a:txBody>
                    <a:bodyPr/>
                    <a:lstStyle/>
                    <a:p>
                      <a:pPr marL="0" indent="0">
                        <a:buNone/>
                      </a:pPr>
                      <a:r>
                        <a:rPr lang="en-US" sz="1000" dirty="0">
                          <a:solidFill>
                            <a:srgbClr val="14162E"/>
                          </a:solidFill>
                          <a:latin typeface="Calibri" pitchFamily="34" charset="0"/>
                          <a:ea typeface="Calibri" pitchFamily="34" charset="-122"/>
                          <a:cs typeface="Calibri" pitchFamily="34" charset="-120"/>
                        </a:rPr>
                        <a:t>Numérica</a:t>
                      </a:r>
                      <a:endParaRPr lang="en-US" sz="1000" dirty="0">
                        <a:latin typeface="Calibri" charset="0"/>
                        <a:ea typeface="Calibri" charset="0"/>
                        <a:cs typeface="Calibri" charset="0"/>
                      </a:endParaRPr>
                    </a:p>
                  </a:txBody>
                  <a:tcPr marL="54864" marR="54864" marT="54864" marB="54864" anchor="ctr">
                    <a:lnL w="6350" cap="flat" cmpd="sng" algn="ctr">
                      <a:solidFill>
                        <a:srgbClr val="D5D9EC"/>
                      </a:solidFill>
                      <a:prstDash val="solid"/>
                      <a:round/>
                      <a:headEnd type="none" w="med" len="med"/>
                      <a:tailEnd type="none" w="med" len="med"/>
                    </a:lnL>
                    <a:lnR w="6350" cap="flat" cmpd="sng" algn="ctr">
                      <a:solidFill>
                        <a:srgbClr val="D5D9EC"/>
                      </a:solidFill>
                      <a:prstDash val="solid"/>
                      <a:round/>
                      <a:headEnd type="none" w="med" len="med"/>
                      <a:tailEnd type="none" w="med" len="med"/>
                    </a:lnR>
                    <a:lnT w="6350" cap="flat" cmpd="sng" algn="ctr">
                      <a:solidFill>
                        <a:srgbClr val="D5D9EC"/>
                      </a:solidFill>
                      <a:prstDash val="solid"/>
                      <a:round/>
                      <a:headEnd type="none" w="med" len="med"/>
                      <a:tailEnd type="none" w="med" len="med"/>
                    </a:lnT>
                    <a:lnB w="6350" cap="flat" cmpd="sng" algn="ctr">
                      <a:solidFill>
                        <a:srgbClr val="D5D9EC"/>
                      </a:solidFill>
                      <a:prstDash val="solid"/>
                      <a:round/>
                      <a:headEnd type="none" w="med" len="med"/>
                      <a:tailEnd type="none" w="med" len="med"/>
                    </a:lnB>
                    <a:solidFill>
                      <a:srgbClr val="FFFFFF"/>
                    </a:solidFill>
                  </a:tcPr>
                </a:tc>
                <a:tc>
                  <a:txBody>
                    <a:bodyPr/>
                    <a:lstStyle/>
                    <a:p>
                      <a:pPr marL="0" indent="0">
                        <a:buNone/>
                      </a:pPr>
                      <a:r>
                        <a:rPr lang="en-US" sz="1000" dirty="0">
                          <a:solidFill>
                            <a:srgbClr val="14162E"/>
                          </a:solidFill>
                          <a:latin typeface="Calibri" pitchFamily="34" charset="0"/>
                          <a:ea typeface="Calibri" pitchFamily="34" charset="-122"/>
                          <a:cs typeface="Calibri" pitchFamily="34" charset="-120"/>
                        </a:rPr>
                        <a:t>Predictor</a:t>
                      </a:r>
                      <a:endParaRPr lang="en-US" sz="1000" dirty="0">
                        <a:latin typeface="Calibri" charset="0"/>
                        <a:ea typeface="Calibri" charset="0"/>
                        <a:cs typeface="Calibri" charset="0"/>
                      </a:endParaRPr>
                    </a:p>
                  </a:txBody>
                  <a:tcPr marL="54864" marR="54864" marT="54864" marB="54864" anchor="ctr">
                    <a:lnL w="6350" cap="flat" cmpd="sng" algn="ctr">
                      <a:solidFill>
                        <a:srgbClr val="D5D9EC"/>
                      </a:solidFill>
                      <a:prstDash val="solid"/>
                      <a:round/>
                      <a:headEnd type="none" w="med" len="med"/>
                      <a:tailEnd type="none" w="med" len="med"/>
                    </a:lnL>
                    <a:lnR w="6350" cap="flat" cmpd="sng" algn="ctr">
                      <a:solidFill>
                        <a:srgbClr val="D5D9EC"/>
                      </a:solidFill>
                      <a:prstDash val="solid"/>
                      <a:round/>
                      <a:headEnd type="none" w="med" len="med"/>
                      <a:tailEnd type="none" w="med" len="med"/>
                    </a:lnR>
                    <a:lnT w="6350" cap="flat" cmpd="sng" algn="ctr">
                      <a:solidFill>
                        <a:srgbClr val="D5D9EC"/>
                      </a:solidFill>
                      <a:prstDash val="solid"/>
                      <a:round/>
                      <a:headEnd type="none" w="med" len="med"/>
                      <a:tailEnd type="none" w="med" len="med"/>
                    </a:lnT>
                    <a:lnB w="6350" cap="flat" cmpd="sng" algn="ctr">
                      <a:solidFill>
                        <a:srgbClr val="D5D9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92608">
                <a:tc>
                  <a:txBody>
                    <a:bodyPr/>
                    <a:lstStyle/>
                    <a:p>
                      <a:pPr marL="0" indent="0">
                        <a:buNone/>
                      </a:pPr>
                      <a:r>
                        <a:rPr lang="en-US" sz="1000" dirty="0">
                          <a:solidFill>
                            <a:srgbClr val="14162E"/>
                          </a:solidFill>
                          <a:latin typeface="Calibri" pitchFamily="34" charset="0"/>
                          <a:ea typeface="Calibri" pitchFamily="34" charset="-122"/>
                          <a:cs typeface="Calibri" pitchFamily="34" charset="-120"/>
                        </a:rPr>
                        <a:t>sleep_hours</a:t>
                      </a:r>
                      <a:endParaRPr lang="en-US" sz="1000" dirty="0">
                        <a:latin typeface="Calibri" charset="0"/>
                        <a:ea typeface="Calibri" charset="0"/>
                        <a:cs typeface="Calibri" charset="0"/>
                      </a:endParaRPr>
                    </a:p>
                  </a:txBody>
                  <a:tcPr marL="54864" marR="54864" marT="54864" marB="54864" anchor="ctr">
                    <a:lnL w="6350" cap="flat" cmpd="sng" algn="ctr">
                      <a:solidFill>
                        <a:srgbClr val="D5D9EC"/>
                      </a:solidFill>
                      <a:prstDash val="solid"/>
                      <a:round/>
                      <a:headEnd type="none" w="med" len="med"/>
                      <a:tailEnd type="none" w="med" len="med"/>
                    </a:lnL>
                    <a:lnR w="6350" cap="flat" cmpd="sng" algn="ctr">
                      <a:solidFill>
                        <a:srgbClr val="D5D9EC"/>
                      </a:solidFill>
                      <a:prstDash val="solid"/>
                      <a:round/>
                      <a:headEnd type="none" w="med" len="med"/>
                      <a:tailEnd type="none" w="med" len="med"/>
                    </a:lnR>
                    <a:lnT w="6350" cap="flat" cmpd="sng" algn="ctr">
                      <a:solidFill>
                        <a:srgbClr val="D5D9EC"/>
                      </a:solidFill>
                      <a:prstDash val="solid"/>
                      <a:round/>
                      <a:headEnd type="none" w="med" len="med"/>
                      <a:tailEnd type="none" w="med" len="med"/>
                    </a:lnT>
                    <a:lnB w="6350" cap="flat" cmpd="sng" algn="ctr">
                      <a:solidFill>
                        <a:srgbClr val="D5D9EC"/>
                      </a:solidFill>
                      <a:prstDash val="solid"/>
                      <a:round/>
                      <a:headEnd type="none" w="med" len="med"/>
                      <a:tailEnd type="none" w="med" len="med"/>
                    </a:lnB>
                    <a:solidFill>
                      <a:srgbClr val="FFFFFF"/>
                    </a:solidFill>
                  </a:tcPr>
                </a:tc>
                <a:tc>
                  <a:txBody>
                    <a:bodyPr/>
                    <a:lstStyle/>
                    <a:p>
                      <a:pPr marL="0" indent="0">
                        <a:buNone/>
                      </a:pPr>
                      <a:r>
                        <a:rPr lang="en-US" sz="1000" dirty="0">
                          <a:solidFill>
                            <a:srgbClr val="14162E"/>
                          </a:solidFill>
                          <a:latin typeface="Calibri" pitchFamily="34" charset="0"/>
                          <a:ea typeface="Calibri" pitchFamily="34" charset="-122"/>
                          <a:cs typeface="Calibri" pitchFamily="34" charset="-120"/>
                        </a:rPr>
                        <a:t>Numérica</a:t>
                      </a:r>
                      <a:endParaRPr lang="en-US" sz="1000" dirty="0">
                        <a:latin typeface="Calibri" charset="0"/>
                        <a:ea typeface="Calibri" charset="0"/>
                        <a:cs typeface="Calibri" charset="0"/>
                      </a:endParaRPr>
                    </a:p>
                  </a:txBody>
                  <a:tcPr marL="54864" marR="54864" marT="54864" marB="54864" anchor="ctr">
                    <a:lnL w="6350" cap="flat" cmpd="sng" algn="ctr">
                      <a:solidFill>
                        <a:srgbClr val="D5D9EC"/>
                      </a:solidFill>
                      <a:prstDash val="solid"/>
                      <a:round/>
                      <a:headEnd type="none" w="med" len="med"/>
                      <a:tailEnd type="none" w="med" len="med"/>
                    </a:lnL>
                    <a:lnR w="6350" cap="flat" cmpd="sng" algn="ctr">
                      <a:solidFill>
                        <a:srgbClr val="D5D9EC"/>
                      </a:solidFill>
                      <a:prstDash val="solid"/>
                      <a:round/>
                      <a:headEnd type="none" w="med" len="med"/>
                      <a:tailEnd type="none" w="med" len="med"/>
                    </a:lnR>
                    <a:lnT w="6350" cap="flat" cmpd="sng" algn="ctr">
                      <a:solidFill>
                        <a:srgbClr val="D5D9EC"/>
                      </a:solidFill>
                      <a:prstDash val="solid"/>
                      <a:round/>
                      <a:headEnd type="none" w="med" len="med"/>
                      <a:tailEnd type="none" w="med" len="med"/>
                    </a:lnT>
                    <a:lnB w="6350" cap="flat" cmpd="sng" algn="ctr">
                      <a:solidFill>
                        <a:srgbClr val="D5D9EC"/>
                      </a:solidFill>
                      <a:prstDash val="solid"/>
                      <a:round/>
                      <a:headEnd type="none" w="med" len="med"/>
                      <a:tailEnd type="none" w="med" len="med"/>
                    </a:lnB>
                    <a:solidFill>
                      <a:srgbClr val="FFFFFF"/>
                    </a:solidFill>
                  </a:tcPr>
                </a:tc>
                <a:tc>
                  <a:txBody>
                    <a:bodyPr/>
                    <a:lstStyle/>
                    <a:p>
                      <a:pPr marL="0" indent="0">
                        <a:buNone/>
                      </a:pPr>
                      <a:r>
                        <a:rPr lang="en-US" sz="1000" dirty="0">
                          <a:solidFill>
                            <a:srgbClr val="14162E"/>
                          </a:solidFill>
                          <a:latin typeface="Calibri" pitchFamily="34" charset="0"/>
                          <a:ea typeface="Calibri" pitchFamily="34" charset="-122"/>
                          <a:cs typeface="Calibri" pitchFamily="34" charset="-120"/>
                        </a:rPr>
                        <a:t>Predictor</a:t>
                      </a:r>
                      <a:endParaRPr lang="en-US" sz="1000" dirty="0">
                        <a:latin typeface="Calibri" charset="0"/>
                        <a:ea typeface="Calibri" charset="0"/>
                        <a:cs typeface="Calibri" charset="0"/>
                      </a:endParaRPr>
                    </a:p>
                  </a:txBody>
                  <a:tcPr marL="54864" marR="54864" marT="54864" marB="54864" anchor="ctr">
                    <a:lnL w="6350" cap="flat" cmpd="sng" algn="ctr">
                      <a:solidFill>
                        <a:srgbClr val="D5D9EC"/>
                      </a:solidFill>
                      <a:prstDash val="solid"/>
                      <a:round/>
                      <a:headEnd type="none" w="med" len="med"/>
                      <a:tailEnd type="none" w="med" len="med"/>
                    </a:lnL>
                    <a:lnR w="6350" cap="flat" cmpd="sng" algn="ctr">
                      <a:solidFill>
                        <a:srgbClr val="D5D9EC"/>
                      </a:solidFill>
                      <a:prstDash val="solid"/>
                      <a:round/>
                      <a:headEnd type="none" w="med" len="med"/>
                      <a:tailEnd type="none" w="med" len="med"/>
                    </a:lnR>
                    <a:lnT w="6350" cap="flat" cmpd="sng" algn="ctr">
                      <a:solidFill>
                        <a:srgbClr val="D5D9EC"/>
                      </a:solidFill>
                      <a:prstDash val="solid"/>
                      <a:round/>
                      <a:headEnd type="none" w="med" len="med"/>
                      <a:tailEnd type="none" w="med" len="med"/>
                    </a:lnT>
                    <a:lnB w="6350" cap="flat" cmpd="sng" algn="ctr">
                      <a:solidFill>
                        <a:srgbClr val="D5D9E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92608">
                <a:tc>
                  <a:txBody>
                    <a:bodyPr/>
                    <a:lstStyle/>
                    <a:p>
                      <a:pPr marL="0" indent="0">
                        <a:buNone/>
                      </a:pPr>
                      <a:r>
                        <a:rPr lang="en-US" sz="1000" dirty="0">
                          <a:solidFill>
                            <a:srgbClr val="14162E"/>
                          </a:solidFill>
                          <a:latin typeface="Calibri" pitchFamily="34" charset="0"/>
                          <a:ea typeface="Calibri" pitchFamily="34" charset="-122"/>
                          <a:cs typeface="Calibri" pitchFamily="34" charset="-120"/>
                        </a:rPr>
                        <a:t>notifications_per_day</a:t>
                      </a:r>
                      <a:endParaRPr lang="en-US" sz="1000" dirty="0">
                        <a:latin typeface="Calibri" charset="0"/>
                        <a:ea typeface="Calibri" charset="0"/>
                        <a:cs typeface="Calibri" charset="0"/>
                      </a:endParaRPr>
                    </a:p>
                  </a:txBody>
                  <a:tcPr marL="54864" marR="54864" marT="54864" marB="54864" anchor="ctr">
                    <a:lnL w="6350" cap="flat" cmpd="sng" algn="ctr">
                      <a:solidFill>
                        <a:srgbClr val="D5D9EC"/>
                      </a:solidFill>
                      <a:prstDash val="solid"/>
                      <a:round/>
                      <a:headEnd type="none" w="med" len="med"/>
                      <a:tailEnd type="none" w="med" len="med"/>
                    </a:lnL>
                    <a:lnR w="6350" cap="flat" cmpd="sng" algn="ctr">
                      <a:solidFill>
                        <a:srgbClr val="D5D9EC"/>
                      </a:solidFill>
                      <a:prstDash val="solid"/>
                      <a:round/>
                      <a:headEnd type="none" w="med" len="med"/>
                      <a:tailEnd type="none" w="med" len="med"/>
                    </a:lnR>
                    <a:lnT w="6350" cap="flat" cmpd="sng" algn="ctr">
                      <a:solidFill>
                        <a:srgbClr val="D5D9EC"/>
                      </a:solidFill>
                      <a:prstDash val="solid"/>
                      <a:round/>
                      <a:headEnd type="none" w="med" len="med"/>
                      <a:tailEnd type="none" w="med" len="med"/>
                    </a:lnT>
                    <a:lnB w="6350" cap="flat" cmpd="sng" algn="ctr">
                      <a:solidFill>
                        <a:srgbClr val="D5D9EC"/>
                      </a:solidFill>
                      <a:prstDash val="solid"/>
                      <a:round/>
                      <a:headEnd type="none" w="med" len="med"/>
                      <a:tailEnd type="none" w="med" len="med"/>
                    </a:lnB>
                    <a:solidFill>
                      <a:srgbClr val="FFFFFF"/>
                    </a:solidFill>
                  </a:tcPr>
                </a:tc>
                <a:tc>
                  <a:txBody>
                    <a:bodyPr/>
                    <a:lstStyle/>
                    <a:p>
                      <a:pPr marL="0" indent="0">
                        <a:buNone/>
                      </a:pPr>
                      <a:r>
                        <a:rPr lang="en-US" sz="1000" dirty="0">
                          <a:solidFill>
                            <a:srgbClr val="14162E"/>
                          </a:solidFill>
                          <a:latin typeface="Calibri" pitchFamily="34" charset="0"/>
                          <a:ea typeface="Calibri" pitchFamily="34" charset="-122"/>
                          <a:cs typeface="Calibri" pitchFamily="34" charset="-120"/>
                        </a:rPr>
                        <a:t>Numérica</a:t>
                      </a:r>
                      <a:endParaRPr lang="en-US" sz="1000" dirty="0">
                        <a:latin typeface="Calibri" charset="0"/>
                        <a:ea typeface="Calibri" charset="0"/>
                        <a:cs typeface="Calibri" charset="0"/>
                      </a:endParaRPr>
                    </a:p>
                  </a:txBody>
                  <a:tcPr marL="54864" marR="54864" marT="54864" marB="54864" anchor="ctr">
                    <a:lnL w="6350" cap="flat" cmpd="sng" algn="ctr">
                      <a:solidFill>
                        <a:srgbClr val="D5D9EC"/>
                      </a:solidFill>
                      <a:prstDash val="solid"/>
                      <a:round/>
                      <a:headEnd type="none" w="med" len="med"/>
                      <a:tailEnd type="none" w="med" len="med"/>
                    </a:lnL>
                    <a:lnR w="6350" cap="flat" cmpd="sng" algn="ctr">
                      <a:solidFill>
                        <a:srgbClr val="D5D9EC"/>
                      </a:solidFill>
                      <a:prstDash val="solid"/>
                      <a:round/>
                      <a:headEnd type="none" w="med" len="med"/>
                      <a:tailEnd type="none" w="med" len="med"/>
                    </a:lnR>
                    <a:lnT w="6350" cap="flat" cmpd="sng" algn="ctr">
                      <a:solidFill>
                        <a:srgbClr val="D5D9EC"/>
                      </a:solidFill>
                      <a:prstDash val="solid"/>
                      <a:round/>
                      <a:headEnd type="none" w="med" len="med"/>
                      <a:tailEnd type="none" w="med" len="med"/>
                    </a:lnT>
                    <a:lnB w="6350" cap="flat" cmpd="sng" algn="ctr">
                      <a:solidFill>
                        <a:srgbClr val="D5D9EC"/>
                      </a:solidFill>
                      <a:prstDash val="solid"/>
                      <a:round/>
                      <a:headEnd type="none" w="med" len="med"/>
                      <a:tailEnd type="none" w="med" len="med"/>
                    </a:lnB>
                    <a:solidFill>
                      <a:srgbClr val="FFFFFF"/>
                    </a:solidFill>
                  </a:tcPr>
                </a:tc>
                <a:tc>
                  <a:txBody>
                    <a:bodyPr/>
                    <a:lstStyle/>
                    <a:p>
                      <a:pPr marL="0" indent="0">
                        <a:buNone/>
                      </a:pPr>
                      <a:r>
                        <a:rPr lang="en-US" sz="1000" dirty="0">
                          <a:solidFill>
                            <a:srgbClr val="14162E"/>
                          </a:solidFill>
                          <a:latin typeface="Calibri" pitchFamily="34" charset="0"/>
                          <a:ea typeface="Calibri" pitchFamily="34" charset="-122"/>
                          <a:cs typeface="Calibri" pitchFamily="34" charset="-120"/>
                        </a:rPr>
                        <a:t>Predictor</a:t>
                      </a:r>
                      <a:endParaRPr lang="en-US" sz="1000" dirty="0">
                        <a:latin typeface="Calibri" charset="0"/>
                        <a:ea typeface="Calibri" charset="0"/>
                        <a:cs typeface="Calibri" charset="0"/>
                      </a:endParaRPr>
                    </a:p>
                  </a:txBody>
                  <a:tcPr marL="54864" marR="54864" marT="54864" marB="54864" anchor="ctr">
                    <a:lnL w="6350" cap="flat" cmpd="sng" algn="ctr">
                      <a:solidFill>
                        <a:srgbClr val="D5D9EC"/>
                      </a:solidFill>
                      <a:prstDash val="solid"/>
                      <a:round/>
                      <a:headEnd type="none" w="med" len="med"/>
                      <a:tailEnd type="none" w="med" len="med"/>
                    </a:lnL>
                    <a:lnR w="6350" cap="flat" cmpd="sng" algn="ctr">
                      <a:solidFill>
                        <a:srgbClr val="D5D9EC"/>
                      </a:solidFill>
                      <a:prstDash val="solid"/>
                      <a:round/>
                      <a:headEnd type="none" w="med" len="med"/>
                      <a:tailEnd type="none" w="med" len="med"/>
                    </a:lnR>
                    <a:lnT w="6350" cap="flat" cmpd="sng" algn="ctr">
                      <a:solidFill>
                        <a:srgbClr val="D5D9EC"/>
                      </a:solidFill>
                      <a:prstDash val="solid"/>
                      <a:round/>
                      <a:headEnd type="none" w="med" len="med"/>
                      <a:tailEnd type="none" w="med" len="med"/>
                    </a:lnT>
                    <a:lnB w="6350" cap="flat" cmpd="sng" algn="ctr">
                      <a:solidFill>
                        <a:srgbClr val="D5D9E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92608">
                <a:tc>
                  <a:txBody>
                    <a:bodyPr/>
                    <a:lstStyle/>
                    <a:p>
                      <a:pPr marL="0" indent="0">
                        <a:buNone/>
                      </a:pPr>
                      <a:r>
                        <a:rPr lang="en-US" sz="1000" dirty="0">
                          <a:solidFill>
                            <a:srgbClr val="14162E"/>
                          </a:solidFill>
                          <a:latin typeface="Calibri" pitchFamily="34" charset="0"/>
                          <a:ea typeface="Calibri" pitchFamily="34" charset="-122"/>
                          <a:cs typeface="Calibri" pitchFamily="34" charset="-120"/>
                        </a:rPr>
                        <a:t>app_opens_per_day</a:t>
                      </a:r>
                      <a:endParaRPr lang="en-US" sz="1000" dirty="0">
                        <a:latin typeface="Calibri" charset="0"/>
                        <a:ea typeface="Calibri" charset="0"/>
                        <a:cs typeface="Calibri" charset="0"/>
                      </a:endParaRPr>
                    </a:p>
                  </a:txBody>
                  <a:tcPr marL="54864" marR="54864" marT="54864" marB="54864" anchor="ctr">
                    <a:lnL w="6350" cap="flat" cmpd="sng" algn="ctr">
                      <a:solidFill>
                        <a:srgbClr val="D5D9EC"/>
                      </a:solidFill>
                      <a:prstDash val="solid"/>
                      <a:round/>
                      <a:headEnd type="none" w="med" len="med"/>
                      <a:tailEnd type="none" w="med" len="med"/>
                    </a:lnL>
                    <a:lnR w="6350" cap="flat" cmpd="sng" algn="ctr">
                      <a:solidFill>
                        <a:srgbClr val="D5D9EC"/>
                      </a:solidFill>
                      <a:prstDash val="solid"/>
                      <a:round/>
                      <a:headEnd type="none" w="med" len="med"/>
                      <a:tailEnd type="none" w="med" len="med"/>
                    </a:lnR>
                    <a:lnT w="6350" cap="flat" cmpd="sng" algn="ctr">
                      <a:solidFill>
                        <a:srgbClr val="D5D9EC"/>
                      </a:solidFill>
                      <a:prstDash val="solid"/>
                      <a:round/>
                      <a:headEnd type="none" w="med" len="med"/>
                      <a:tailEnd type="none" w="med" len="med"/>
                    </a:lnT>
                    <a:lnB w="6350" cap="flat" cmpd="sng" algn="ctr">
                      <a:solidFill>
                        <a:srgbClr val="D5D9EC"/>
                      </a:solidFill>
                      <a:prstDash val="solid"/>
                      <a:round/>
                      <a:headEnd type="none" w="med" len="med"/>
                      <a:tailEnd type="none" w="med" len="med"/>
                    </a:lnB>
                    <a:solidFill>
                      <a:srgbClr val="FFFFFF"/>
                    </a:solidFill>
                  </a:tcPr>
                </a:tc>
                <a:tc>
                  <a:txBody>
                    <a:bodyPr/>
                    <a:lstStyle/>
                    <a:p>
                      <a:pPr marL="0" indent="0">
                        <a:buNone/>
                      </a:pPr>
                      <a:r>
                        <a:rPr lang="en-US" sz="1000" dirty="0">
                          <a:solidFill>
                            <a:srgbClr val="14162E"/>
                          </a:solidFill>
                          <a:latin typeface="Calibri" pitchFamily="34" charset="0"/>
                          <a:ea typeface="Calibri" pitchFamily="34" charset="-122"/>
                          <a:cs typeface="Calibri" pitchFamily="34" charset="-120"/>
                        </a:rPr>
                        <a:t>Numérica</a:t>
                      </a:r>
                      <a:endParaRPr lang="en-US" sz="1000" dirty="0">
                        <a:latin typeface="Calibri" charset="0"/>
                        <a:ea typeface="Calibri" charset="0"/>
                        <a:cs typeface="Calibri" charset="0"/>
                      </a:endParaRPr>
                    </a:p>
                  </a:txBody>
                  <a:tcPr marL="54864" marR="54864" marT="54864" marB="54864" anchor="ctr">
                    <a:lnL w="6350" cap="flat" cmpd="sng" algn="ctr">
                      <a:solidFill>
                        <a:srgbClr val="D5D9EC"/>
                      </a:solidFill>
                      <a:prstDash val="solid"/>
                      <a:round/>
                      <a:headEnd type="none" w="med" len="med"/>
                      <a:tailEnd type="none" w="med" len="med"/>
                    </a:lnL>
                    <a:lnR w="6350" cap="flat" cmpd="sng" algn="ctr">
                      <a:solidFill>
                        <a:srgbClr val="D5D9EC"/>
                      </a:solidFill>
                      <a:prstDash val="solid"/>
                      <a:round/>
                      <a:headEnd type="none" w="med" len="med"/>
                      <a:tailEnd type="none" w="med" len="med"/>
                    </a:lnR>
                    <a:lnT w="6350" cap="flat" cmpd="sng" algn="ctr">
                      <a:solidFill>
                        <a:srgbClr val="D5D9EC"/>
                      </a:solidFill>
                      <a:prstDash val="solid"/>
                      <a:round/>
                      <a:headEnd type="none" w="med" len="med"/>
                      <a:tailEnd type="none" w="med" len="med"/>
                    </a:lnT>
                    <a:lnB w="6350" cap="flat" cmpd="sng" algn="ctr">
                      <a:solidFill>
                        <a:srgbClr val="D5D9EC"/>
                      </a:solidFill>
                      <a:prstDash val="solid"/>
                      <a:round/>
                      <a:headEnd type="none" w="med" len="med"/>
                      <a:tailEnd type="none" w="med" len="med"/>
                    </a:lnB>
                    <a:solidFill>
                      <a:srgbClr val="FFFFFF"/>
                    </a:solidFill>
                  </a:tcPr>
                </a:tc>
                <a:tc>
                  <a:txBody>
                    <a:bodyPr/>
                    <a:lstStyle/>
                    <a:p>
                      <a:pPr marL="0" indent="0">
                        <a:buNone/>
                      </a:pPr>
                      <a:r>
                        <a:rPr lang="en-US" sz="1000" dirty="0">
                          <a:solidFill>
                            <a:srgbClr val="14162E"/>
                          </a:solidFill>
                          <a:latin typeface="Calibri" pitchFamily="34" charset="0"/>
                          <a:ea typeface="Calibri" pitchFamily="34" charset="-122"/>
                          <a:cs typeface="Calibri" pitchFamily="34" charset="-120"/>
                        </a:rPr>
                        <a:t>Predictor</a:t>
                      </a:r>
                      <a:endParaRPr lang="en-US" sz="1000" dirty="0">
                        <a:latin typeface="Calibri" charset="0"/>
                        <a:ea typeface="Calibri" charset="0"/>
                        <a:cs typeface="Calibri" charset="0"/>
                      </a:endParaRPr>
                    </a:p>
                  </a:txBody>
                  <a:tcPr marL="54864" marR="54864" marT="54864" marB="54864" anchor="ctr">
                    <a:lnL w="6350" cap="flat" cmpd="sng" algn="ctr">
                      <a:solidFill>
                        <a:srgbClr val="D5D9EC"/>
                      </a:solidFill>
                      <a:prstDash val="solid"/>
                      <a:round/>
                      <a:headEnd type="none" w="med" len="med"/>
                      <a:tailEnd type="none" w="med" len="med"/>
                    </a:lnL>
                    <a:lnR w="6350" cap="flat" cmpd="sng" algn="ctr">
                      <a:solidFill>
                        <a:srgbClr val="D5D9EC"/>
                      </a:solidFill>
                      <a:prstDash val="solid"/>
                      <a:round/>
                      <a:headEnd type="none" w="med" len="med"/>
                      <a:tailEnd type="none" w="med" len="med"/>
                    </a:lnR>
                    <a:lnT w="6350" cap="flat" cmpd="sng" algn="ctr">
                      <a:solidFill>
                        <a:srgbClr val="D5D9EC"/>
                      </a:solidFill>
                      <a:prstDash val="solid"/>
                      <a:round/>
                      <a:headEnd type="none" w="med" len="med"/>
                      <a:tailEnd type="none" w="med" len="med"/>
                    </a:lnT>
                    <a:lnB w="6350" cap="flat" cmpd="sng" algn="ctr">
                      <a:solidFill>
                        <a:srgbClr val="D5D9EC"/>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92608">
                <a:tc>
                  <a:txBody>
                    <a:bodyPr/>
                    <a:lstStyle/>
                    <a:p>
                      <a:pPr marL="0" indent="0">
                        <a:buNone/>
                      </a:pPr>
                      <a:r>
                        <a:rPr lang="en-US" sz="1000" dirty="0">
                          <a:solidFill>
                            <a:srgbClr val="14162E"/>
                          </a:solidFill>
                          <a:latin typeface="Calibri" pitchFamily="34" charset="0"/>
                          <a:ea typeface="Calibri" pitchFamily="34" charset="-122"/>
                          <a:cs typeface="Calibri" pitchFamily="34" charset="-120"/>
                        </a:rPr>
                        <a:t>gender</a:t>
                      </a:r>
                      <a:endParaRPr lang="en-US" sz="1000" dirty="0">
                        <a:latin typeface="Calibri" charset="0"/>
                        <a:ea typeface="Calibri" charset="0"/>
                        <a:cs typeface="Calibri" charset="0"/>
                      </a:endParaRPr>
                    </a:p>
                  </a:txBody>
                  <a:tcPr marL="54864" marR="54864" marT="54864" marB="54864" anchor="ctr">
                    <a:lnL w="6350" cap="flat" cmpd="sng" algn="ctr">
                      <a:solidFill>
                        <a:srgbClr val="D5D9EC"/>
                      </a:solidFill>
                      <a:prstDash val="solid"/>
                      <a:round/>
                      <a:headEnd type="none" w="med" len="med"/>
                      <a:tailEnd type="none" w="med" len="med"/>
                    </a:lnL>
                    <a:lnR w="6350" cap="flat" cmpd="sng" algn="ctr">
                      <a:solidFill>
                        <a:srgbClr val="D5D9EC"/>
                      </a:solidFill>
                      <a:prstDash val="solid"/>
                      <a:round/>
                      <a:headEnd type="none" w="med" len="med"/>
                      <a:tailEnd type="none" w="med" len="med"/>
                    </a:lnR>
                    <a:lnT w="6350" cap="flat" cmpd="sng" algn="ctr">
                      <a:solidFill>
                        <a:srgbClr val="D5D9EC"/>
                      </a:solidFill>
                      <a:prstDash val="solid"/>
                      <a:round/>
                      <a:headEnd type="none" w="med" len="med"/>
                      <a:tailEnd type="none" w="med" len="med"/>
                    </a:lnT>
                    <a:lnB w="6350" cap="flat" cmpd="sng" algn="ctr">
                      <a:solidFill>
                        <a:srgbClr val="D5D9EC"/>
                      </a:solidFill>
                      <a:prstDash val="solid"/>
                      <a:round/>
                      <a:headEnd type="none" w="med" len="med"/>
                      <a:tailEnd type="none" w="med" len="med"/>
                    </a:lnB>
                    <a:solidFill>
                      <a:srgbClr val="FFFFFF"/>
                    </a:solidFill>
                  </a:tcPr>
                </a:tc>
                <a:tc>
                  <a:txBody>
                    <a:bodyPr/>
                    <a:lstStyle/>
                    <a:p>
                      <a:pPr marL="0" indent="0">
                        <a:buNone/>
                      </a:pPr>
                      <a:r>
                        <a:rPr lang="en-US" sz="1000" dirty="0">
                          <a:solidFill>
                            <a:srgbClr val="14162E"/>
                          </a:solidFill>
                          <a:latin typeface="Calibri" pitchFamily="34" charset="0"/>
                          <a:ea typeface="Calibri" pitchFamily="34" charset="-122"/>
                          <a:cs typeface="Calibri" pitchFamily="34" charset="-120"/>
                        </a:rPr>
                        <a:t>Categórica</a:t>
                      </a:r>
                      <a:endParaRPr lang="en-US" sz="1000" dirty="0">
                        <a:latin typeface="Calibri" charset="0"/>
                        <a:ea typeface="Calibri" charset="0"/>
                        <a:cs typeface="Calibri" charset="0"/>
                      </a:endParaRPr>
                    </a:p>
                  </a:txBody>
                  <a:tcPr marL="54864" marR="54864" marT="54864" marB="54864" anchor="ctr">
                    <a:lnL w="6350" cap="flat" cmpd="sng" algn="ctr">
                      <a:solidFill>
                        <a:srgbClr val="D5D9EC"/>
                      </a:solidFill>
                      <a:prstDash val="solid"/>
                      <a:round/>
                      <a:headEnd type="none" w="med" len="med"/>
                      <a:tailEnd type="none" w="med" len="med"/>
                    </a:lnL>
                    <a:lnR w="6350" cap="flat" cmpd="sng" algn="ctr">
                      <a:solidFill>
                        <a:srgbClr val="D5D9EC"/>
                      </a:solidFill>
                      <a:prstDash val="solid"/>
                      <a:round/>
                      <a:headEnd type="none" w="med" len="med"/>
                      <a:tailEnd type="none" w="med" len="med"/>
                    </a:lnR>
                    <a:lnT w="6350" cap="flat" cmpd="sng" algn="ctr">
                      <a:solidFill>
                        <a:srgbClr val="D5D9EC"/>
                      </a:solidFill>
                      <a:prstDash val="solid"/>
                      <a:round/>
                      <a:headEnd type="none" w="med" len="med"/>
                      <a:tailEnd type="none" w="med" len="med"/>
                    </a:lnT>
                    <a:lnB w="6350" cap="flat" cmpd="sng" algn="ctr">
                      <a:solidFill>
                        <a:srgbClr val="D5D9EC"/>
                      </a:solidFill>
                      <a:prstDash val="solid"/>
                      <a:round/>
                      <a:headEnd type="none" w="med" len="med"/>
                      <a:tailEnd type="none" w="med" len="med"/>
                    </a:lnB>
                    <a:solidFill>
                      <a:srgbClr val="FFFFFF"/>
                    </a:solidFill>
                  </a:tcPr>
                </a:tc>
                <a:tc>
                  <a:txBody>
                    <a:bodyPr/>
                    <a:lstStyle/>
                    <a:p>
                      <a:pPr marL="0" indent="0">
                        <a:buNone/>
                      </a:pPr>
                      <a:r>
                        <a:rPr lang="en-US" sz="1000" dirty="0">
                          <a:solidFill>
                            <a:srgbClr val="14162E"/>
                          </a:solidFill>
                          <a:latin typeface="Calibri" pitchFamily="34" charset="0"/>
                          <a:ea typeface="Calibri" pitchFamily="34" charset="-122"/>
                          <a:cs typeface="Calibri" pitchFamily="34" charset="-120"/>
                        </a:rPr>
                        <a:t>Predictor</a:t>
                      </a:r>
                      <a:endParaRPr lang="en-US" sz="1000" dirty="0">
                        <a:latin typeface="Calibri" charset="0"/>
                        <a:ea typeface="Calibri" charset="0"/>
                        <a:cs typeface="Calibri" charset="0"/>
                      </a:endParaRPr>
                    </a:p>
                  </a:txBody>
                  <a:tcPr marL="54864" marR="54864" marT="54864" marB="54864" anchor="ctr">
                    <a:lnL w="6350" cap="flat" cmpd="sng" algn="ctr">
                      <a:solidFill>
                        <a:srgbClr val="D5D9EC"/>
                      </a:solidFill>
                      <a:prstDash val="solid"/>
                      <a:round/>
                      <a:headEnd type="none" w="med" len="med"/>
                      <a:tailEnd type="none" w="med" len="med"/>
                    </a:lnL>
                    <a:lnR w="6350" cap="flat" cmpd="sng" algn="ctr">
                      <a:solidFill>
                        <a:srgbClr val="D5D9EC"/>
                      </a:solidFill>
                      <a:prstDash val="solid"/>
                      <a:round/>
                      <a:headEnd type="none" w="med" len="med"/>
                      <a:tailEnd type="none" w="med" len="med"/>
                    </a:lnR>
                    <a:lnT w="6350" cap="flat" cmpd="sng" algn="ctr">
                      <a:solidFill>
                        <a:srgbClr val="D5D9EC"/>
                      </a:solidFill>
                      <a:prstDash val="solid"/>
                      <a:round/>
                      <a:headEnd type="none" w="med" len="med"/>
                      <a:tailEnd type="none" w="med" len="med"/>
                    </a:lnT>
                    <a:lnB w="6350" cap="flat" cmpd="sng" algn="ctr">
                      <a:solidFill>
                        <a:srgbClr val="D5D9EC"/>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92608">
                <a:tc>
                  <a:txBody>
                    <a:bodyPr/>
                    <a:lstStyle/>
                    <a:p>
                      <a:pPr marL="0" indent="0">
                        <a:buNone/>
                      </a:pPr>
                      <a:r>
                        <a:rPr lang="en-US" sz="1000" dirty="0">
                          <a:solidFill>
                            <a:srgbClr val="14162E"/>
                          </a:solidFill>
                          <a:latin typeface="Calibri" pitchFamily="34" charset="0"/>
                          <a:ea typeface="Calibri" pitchFamily="34" charset="-122"/>
                          <a:cs typeface="Calibri" pitchFamily="34" charset="-120"/>
                        </a:rPr>
                        <a:t>stress_level</a:t>
                      </a:r>
                      <a:endParaRPr lang="en-US" sz="1000" dirty="0">
                        <a:latin typeface="Calibri" charset="0"/>
                        <a:ea typeface="Calibri" charset="0"/>
                        <a:cs typeface="Calibri" charset="0"/>
                      </a:endParaRPr>
                    </a:p>
                  </a:txBody>
                  <a:tcPr marL="54864" marR="54864" marT="54864" marB="54864" anchor="ctr">
                    <a:lnL w="6350" cap="flat" cmpd="sng" algn="ctr">
                      <a:solidFill>
                        <a:srgbClr val="D5D9EC"/>
                      </a:solidFill>
                      <a:prstDash val="solid"/>
                      <a:round/>
                      <a:headEnd type="none" w="med" len="med"/>
                      <a:tailEnd type="none" w="med" len="med"/>
                    </a:lnL>
                    <a:lnR w="6350" cap="flat" cmpd="sng" algn="ctr">
                      <a:solidFill>
                        <a:srgbClr val="D5D9EC"/>
                      </a:solidFill>
                      <a:prstDash val="solid"/>
                      <a:round/>
                      <a:headEnd type="none" w="med" len="med"/>
                      <a:tailEnd type="none" w="med" len="med"/>
                    </a:lnR>
                    <a:lnT w="6350" cap="flat" cmpd="sng" algn="ctr">
                      <a:solidFill>
                        <a:srgbClr val="D5D9EC"/>
                      </a:solidFill>
                      <a:prstDash val="solid"/>
                      <a:round/>
                      <a:headEnd type="none" w="med" len="med"/>
                      <a:tailEnd type="none" w="med" len="med"/>
                    </a:lnT>
                    <a:lnB w="6350" cap="flat" cmpd="sng" algn="ctr">
                      <a:solidFill>
                        <a:srgbClr val="D5D9EC"/>
                      </a:solidFill>
                      <a:prstDash val="solid"/>
                      <a:round/>
                      <a:headEnd type="none" w="med" len="med"/>
                      <a:tailEnd type="none" w="med" len="med"/>
                    </a:lnB>
                    <a:solidFill>
                      <a:srgbClr val="FFFFFF"/>
                    </a:solidFill>
                  </a:tcPr>
                </a:tc>
                <a:tc>
                  <a:txBody>
                    <a:bodyPr/>
                    <a:lstStyle/>
                    <a:p>
                      <a:pPr marL="0" indent="0">
                        <a:buNone/>
                      </a:pPr>
                      <a:r>
                        <a:rPr lang="en-US" sz="1000" dirty="0">
                          <a:solidFill>
                            <a:srgbClr val="14162E"/>
                          </a:solidFill>
                          <a:latin typeface="Calibri" pitchFamily="34" charset="0"/>
                          <a:ea typeface="Calibri" pitchFamily="34" charset="-122"/>
                          <a:cs typeface="Calibri" pitchFamily="34" charset="-120"/>
                        </a:rPr>
                        <a:t>Categórica (3 niveles)</a:t>
                      </a:r>
                      <a:endParaRPr lang="en-US" sz="1000" dirty="0">
                        <a:latin typeface="Calibri" charset="0"/>
                        <a:ea typeface="Calibri" charset="0"/>
                        <a:cs typeface="Calibri" charset="0"/>
                      </a:endParaRPr>
                    </a:p>
                  </a:txBody>
                  <a:tcPr marL="54864" marR="54864" marT="54864" marB="54864" anchor="ctr">
                    <a:lnL w="6350" cap="flat" cmpd="sng" algn="ctr">
                      <a:solidFill>
                        <a:srgbClr val="D5D9EC"/>
                      </a:solidFill>
                      <a:prstDash val="solid"/>
                      <a:round/>
                      <a:headEnd type="none" w="med" len="med"/>
                      <a:tailEnd type="none" w="med" len="med"/>
                    </a:lnL>
                    <a:lnR w="6350" cap="flat" cmpd="sng" algn="ctr">
                      <a:solidFill>
                        <a:srgbClr val="D5D9EC"/>
                      </a:solidFill>
                      <a:prstDash val="solid"/>
                      <a:round/>
                      <a:headEnd type="none" w="med" len="med"/>
                      <a:tailEnd type="none" w="med" len="med"/>
                    </a:lnR>
                    <a:lnT w="6350" cap="flat" cmpd="sng" algn="ctr">
                      <a:solidFill>
                        <a:srgbClr val="D5D9EC"/>
                      </a:solidFill>
                      <a:prstDash val="solid"/>
                      <a:round/>
                      <a:headEnd type="none" w="med" len="med"/>
                      <a:tailEnd type="none" w="med" len="med"/>
                    </a:lnT>
                    <a:lnB w="6350" cap="flat" cmpd="sng" algn="ctr">
                      <a:solidFill>
                        <a:srgbClr val="D5D9EC"/>
                      </a:solidFill>
                      <a:prstDash val="solid"/>
                      <a:round/>
                      <a:headEnd type="none" w="med" len="med"/>
                      <a:tailEnd type="none" w="med" len="med"/>
                    </a:lnB>
                    <a:solidFill>
                      <a:srgbClr val="FFFFFF"/>
                    </a:solidFill>
                  </a:tcPr>
                </a:tc>
                <a:tc>
                  <a:txBody>
                    <a:bodyPr/>
                    <a:lstStyle/>
                    <a:p>
                      <a:pPr marL="0" indent="0">
                        <a:buNone/>
                      </a:pPr>
                      <a:r>
                        <a:rPr lang="en-US" sz="1000" dirty="0">
                          <a:solidFill>
                            <a:srgbClr val="14162E"/>
                          </a:solidFill>
                          <a:latin typeface="Calibri" pitchFamily="34" charset="0"/>
                          <a:ea typeface="Calibri" pitchFamily="34" charset="-122"/>
                          <a:cs typeface="Calibri" pitchFamily="34" charset="-120"/>
                        </a:rPr>
                        <a:t>Predictor</a:t>
                      </a:r>
                      <a:endParaRPr lang="en-US" sz="1000" dirty="0">
                        <a:latin typeface="Calibri" charset="0"/>
                        <a:ea typeface="Calibri" charset="0"/>
                        <a:cs typeface="Calibri" charset="0"/>
                      </a:endParaRPr>
                    </a:p>
                  </a:txBody>
                  <a:tcPr marL="54864" marR="54864" marT="54864" marB="54864" anchor="ctr">
                    <a:lnL w="6350" cap="flat" cmpd="sng" algn="ctr">
                      <a:solidFill>
                        <a:srgbClr val="D5D9EC"/>
                      </a:solidFill>
                      <a:prstDash val="solid"/>
                      <a:round/>
                      <a:headEnd type="none" w="med" len="med"/>
                      <a:tailEnd type="none" w="med" len="med"/>
                    </a:lnL>
                    <a:lnR w="6350" cap="flat" cmpd="sng" algn="ctr">
                      <a:solidFill>
                        <a:srgbClr val="D5D9EC"/>
                      </a:solidFill>
                      <a:prstDash val="solid"/>
                      <a:round/>
                      <a:headEnd type="none" w="med" len="med"/>
                      <a:tailEnd type="none" w="med" len="med"/>
                    </a:lnR>
                    <a:lnT w="6350" cap="flat" cmpd="sng" algn="ctr">
                      <a:solidFill>
                        <a:srgbClr val="D5D9EC"/>
                      </a:solidFill>
                      <a:prstDash val="solid"/>
                      <a:round/>
                      <a:headEnd type="none" w="med" len="med"/>
                      <a:tailEnd type="none" w="med" len="med"/>
                    </a:lnT>
                    <a:lnB w="6350" cap="flat" cmpd="sng" algn="ctr">
                      <a:solidFill>
                        <a:srgbClr val="D5D9EC"/>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292608">
                <a:tc>
                  <a:txBody>
                    <a:bodyPr/>
                    <a:lstStyle/>
                    <a:p>
                      <a:pPr marL="0" indent="0">
                        <a:buNone/>
                      </a:pPr>
                      <a:r>
                        <a:rPr lang="en-US" sz="1000" dirty="0">
                          <a:solidFill>
                            <a:srgbClr val="14162E"/>
                          </a:solidFill>
                          <a:latin typeface="Calibri" pitchFamily="34" charset="0"/>
                          <a:ea typeface="Calibri" pitchFamily="34" charset="-122"/>
                          <a:cs typeface="Calibri" pitchFamily="34" charset="-120"/>
                        </a:rPr>
                        <a:t>academic_work_impact</a:t>
                      </a:r>
                      <a:endParaRPr lang="en-US" sz="1000" dirty="0">
                        <a:latin typeface="Calibri" charset="0"/>
                        <a:ea typeface="Calibri" charset="0"/>
                        <a:cs typeface="Calibri" charset="0"/>
                      </a:endParaRPr>
                    </a:p>
                  </a:txBody>
                  <a:tcPr marL="54864" marR="54864" marT="54864" marB="54864" anchor="ctr">
                    <a:lnL w="6350" cap="flat" cmpd="sng" algn="ctr">
                      <a:solidFill>
                        <a:srgbClr val="D5D9EC"/>
                      </a:solidFill>
                      <a:prstDash val="solid"/>
                      <a:round/>
                      <a:headEnd type="none" w="med" len="med"/>
                      <a:tailEnd type="none" w="med" len="med"/>
                    </a:lnL>
                    <a:lnR w="6350" cap="flat" cmpd="sng" algn="ctr">
                      <a:solidFill>
                        <a:srgbClr val="D5D9EC"/>
                      </a:solidFill>
                      <a:prstDash val="solid"/>
                      <a:round/>
                      <a:headEnd type="none" w="med" len="med"/>
                      <a:tailEnd type="none" w="med" len="med"/>
                    </a:lnR>
                    <a:lnT w="6350" cap="flat" cmpd="sng" algn="ctr">
                      <a:solidFill>
                        <a:srgbClr val="D5D9EC"/>
                      </a:solidFill>
                      <a:prstDash val="solid"/>
                      <a:round/>
                      <a:headEnd type="none" w="med" len="med"/>
                      <a:tailEnd type="none" w="med" len="med"/>
                    </a:lnT>
                    <a:lnB w="6350" cap="flat" cmpd="sng" algn="ctr">
                      <a:solidFill>
                        <a:srgbClr val="D5D9EC"/>
                      </a:solidFill>
                      <a:prstDash val="solid"/>
                      <a:round/>
                      <a:headEnd type="none" w="med" len="med"/>
                      <a:tailEnd type="none" w="med" len="med"/>
                    </a:lnB>
                    <a:solidFill>
                      <a:srgbClr val="FFFFFF"/>
                    </a:solidFill>
                  </a:tcPr>
                </a:tc>
                <a:tc>
                  <a:txBody>
                    <a:bodyPr/>
                    <a:lstStyle/>
                    <a:p>
                      <a:pPr marL="0" indent="0">
                        <a:buNone/>
                      </a:pPr>
                      <a:r>
                        <a:rPr lang="en-US" sz="1000" dirty="0">
                          <a:solidFill>
                            <a:srgbClr val="14162E"/>
                          </a:solidFill>
                          <a:latin typeface="Calibri" pitchFamily="34" charset="0"/>
                          <a:ea typeface="Calibri" pitchFamily="34" charset="-122"/>
                          <a:cs typeface="Calibri" pitchFamily="34" charset="-120"/>
                        </a:rPr>
                        <a:t>Categórica (Sí / No)</a:t>
                      </a:r>
                      <a:endParaRPr lang="en-US" sz="1000" dirty="0">
                        <a:latin typeface="Calibri" charset="0"/>
                        <a:ea typeface="Calibri" charset="0"/>
                        <a:cs typeface="Calibri" charset="0"/>
                      </a:endParaRPr>
                    </a:p>
                  </a:txBody>
                  <a:tcPr marL="54864" marR="54864" marT="54864" marB="54864" anchor="ctr">
                    <a:lnL w="6350" cap="flat" cmpd="sng" algn="ctr">
                      <a:solidFill>
                        <a:srgbClr val="D5D9EC"/>
                      </a:solidFill>
                      <a:prstDash val="solid"/>
                      <a:round/>
                      <a:headEnd type="none" w="med" len="med"/>
                      <a:tailEnd type="none" w="med" len="med"/>
                    </a:lnL>
                    <a:lnR w="6350" cap="flat" cmpd="sng" algn="ctr">
                      <a:solidFill>
                        <a:srgbClr val="D5D9EC"/>
                      </a:solidFill>
                      <a:prstDash val="solid"/>
                      <a:round/>
                      <a:headEnd type="none" w="med" len="med"/>
                      <a:tailEnd type="none" w="med" len="med"/>
                    </a:lnR>
                    <a:lnT w="6350" cap="flat" cmpd="sng" algn="ctr">
                      <a:solidFill>
                        <a:srgbClr val="D5D9EC"/>
                      </a:solidFill>
                      <a:prstDash val="solid"/>
                      <a:round/>
                      <a:headEnd type="none" w="med" len="med"/>
                      <a:tailEnd type="none" w="med" len="med"/>
                    </a:lnT>
                    <a:lnB w="6350" cap="flat" cmpd="sng" algn="ctr">
                      <a:solidFill>
                        <a:srgbClr val="D5D9EC"/>
                      </a:solidFill>
                      <a:prstDash val="solid"/>
                      <a:round/>
                      <a:headEnd type="none" w="med" len="med"/>
                      <a:tailEnd type="none" w="med" len="med"/>
                    </a:lnB>
                    <a:solidFill>
                      <a:srgbClr val="FFFFFF"/>
                    </a:solidFill>
                  </a:tcPr>
                </a:tc>
                <a:tc>
                  <a:txBody>
                    <a:bodyPr/>
                    <a:lstStyle/>
                    <a:p>
                      <a:pPr marL="0" indent="0">
                        <a:buNone/>
                      </a:pPr>
                      <a:r>
                        <a:rPr lang="en-US" sz="1000" dirty="0">
                          <a:solidFill>
                            <a:srgbClr val="14162E"/>
                          </a:solidFill>
                          <a:latin typeface="Calibri" pitchFamily="34" charset="0"/>
                          <a:ea typeface="Calibri" pitchFamily="34" charset="-122"/>
                          <a:cs typeface="Calibri" pitchFamily="34" charset="-120"/>
                        </a:rPr>
                        <a:t>Predictor</a:t>
                      </a:r>
                      <a:endParaRPr lang="en-US" sz="1000" dirty="0">
                        <a:latin typeface="Calibri" charset="0"/>
                        <a:ea typeface="Calibri" charset="0"/>
                        <a:cs typeface="Calibri" charset="0"/>
                      </a:endParaRPr>
                    </a:p>
                  </a:txBody>
                  <a:tcPr marL="54864" marR="54864" marT="54864" marB="54864" anchor="ctr">
                    <a:lnL w="6350" cap="flat" cmpd="sng" algn="ctr">
                      <a:solidFill>
                        <a:srgbClr val="D5D9EC"/>
                      </a:solidFill>
                      <a:prstDash val="solid"/>
                      <a:round/>
                      <a:headEnd type="none" w="med" len="med"/>
                      <a:tailEnd type="none" w="med" len="med"/>
                    </a:lnL>
                    <a:lnR w="6350" cap="flat" cmpd="sng" algn="ctr">
                      <a:solidFill>
                        <a:srgbClr val="D5D9EC"/>
                      </a:solidFill>
                      <a:prstDash val="solid"/>
                      <a:round/>
                      <a:headEnd type="none" w="med" len="med"/>
                      <a:tailEnd type="none" w="med" len="med"/>
                    </a:lnR>
                    <a:lnT w="6350" cap="flat" cmpd="sng" algn="ctr">
                      <a:solidFill>
                        <a:srgbClr val="D5D9EC"/>
                      </a:solidFill>
                      <a:prstDash val="solid"/>
                      <a:round/>
                      <a:headEnd type="none" w="med" len="med"/>
                      <a:tailEnd type="none" w="med" len="med"/>
                    </a:lnT>
                    <a:lnB w="6350" cap="flat" cmpd="sng" algn="ctr">
                      <a:solidFill>
                        <a:srgbClr val="D5D9EC"/>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r h="292608">
                <a:tc>
                  <a:txBody>
                    <a:bodyPr/>
                    <a:lstStyle/>
                    <a:p>
                      <a:pPr marL="0" indent="0">
                        <a:buNone/>
                      </a:pPr>
                      <a:r>
                        <a:rPr lang="en-US" sz="1000" b="1" dirty="0">
                          <a:solidFill>
                            <a:srgbClr val="FF7A45"/>
                          </a:solidFill>
                          <a:latin typeface="Calibri" pitchFamily="34" charset="0"/>
                          <a:ea typeface="Calibri" pitchFamily="34" charset="-122"/>
                          <a:cs typeface="Calibri" pitchFamily="34" charset="-120"/>
                        </a:rPr>
                        <a:t>addicted_label</a:t>
                      </a:r>
                      <a:endParaRPr lang="en-US" sz="1000" dirty="0">
                        <a:latin typeface="Calibri" charset="0"/>
                        <a:ea typeface="Calibri" charset="0"/>
                        <a:cs typeface="Calibri" charset="0"/>
                      </a:endParaRPr>
                    </a:p>
                  </a:txBody>
                  <a:tcPr marL="54864" marR="54864" marT="54864" marB="54864" anchor="ctr">
                    <a:lnL w="6350" cap="flat" cmpd="sng" algn="ctr">
                      <a:solidFill>
                        <a:srgbClr val="D5D9EC"/>
                      </a:solidFill>
                      <a:prstDash val="solid"/>
                      <a:round/>
                      <a:headEnd type="none" w="med" len="med"/>
                      <a:tailEnd type="none" w="med" len="med"/>
                    </a:lnL>
                    <a:lnR w="6350" cap="flat" cmpd="sng" algn="ctr">
                      <a:solidFill>
                        <a:srgbClr val="D5D9EC"/>
                      </a:solidFill>
                      <a:prstDash val="solid"/>
                      <a:round/>
                      <a:headEnd type="none" w="med" len="med"/>
                      <a:tailEnd type="none" w="med" len="med"/>
                    </a:lnR>
                    <a:lnT w="6350" cap="flat" cmpd="sng" algn="ctr">
                      <a:solidFill>
                        <a:srgbClr val="D5D9EC"/>
                      </a:solidFill>
                      <a:prstDash val="solid"/>
                      <a:round/>
                      <a:headEnd type="none" w="med" len="med"/>
                      <a:tailEnd type="none" w="med" len="med"/>
                    </a:lnT>
                    <a:lnB w="6350" cap="flat" cmpd="sng" algn="ctr">
                      <a:solidFill>
                        <a:srgbClr val="D5D9EC"/>
                      </a:solidFill>
                      <a:prstDash val="solid"/>
                      <a:round/>
                      <a:headEnd type="none" w="med" len="med"/>
                      <a:tailEnd type="none" w="med" len="med"/>
                    </a:lnB>
                    <a:solidFill>
                      <a:srgbClr val="FFFFFF"/>
                    </a:solidFill>
                  </a:tcPr>
                </a:tc>
                <a:tc>
                  <a:txBody>
                    <a:bodyPr/>
                    <a:lstStyle/>
                    <a:p>
                      <a:pPr marL="0" indent="0">
                        <a:buNone/>
                      </a:pPr>
                      <a:r>
                        <a:rPr lang="en-US" sz="1000" b="1" dirty="0">
                          <a:solidFill>
                            <a:srgbClr val="FF7A45"/>
                          </a:solidFill>
                          <a:latin typeface="Calibri" pitchFamily="34" charset="0"/>
                          <a:ea typeface="Calibri" pitchFamily="34" charset="-122"/>
                          <a:cs typeface="Calibri" pitchFamily="34" charset="-120"/>
                        </a:rPr>
                        <a:t>Binaria (0 / 1)</a:t>
                      </a:r>
                      <a:endParaRPr lang="en-US" sz="1000" dirty="0">
                        <a:latin typeface="Calibri" charset="0"/>
                        <a:ea typeface="Calibri" charset="0"/>
                        <a:cs typeface="Calibri" charset="0"/>
                      </a:endParaRPr>
                    </a:p>
                  </a:txBody>
                  <a:tcPr marL="54864" marR="54864" marT="54864" marB="54864" anchor="ctr">
                    <a:lnL w="6350" cap="flat" cmpd="sng" algn="ctr">
                      <a:solidFill>
                        <a:srgbClr val="D5D9EC"/>
                      </a:solidFill>
                      <a:prstDash val="solid"/>
                      <a:round/>
                      <a:headEnd type="none" w="med" len="med"/>
                      <a:tailEnd type="none" w="med" len="med"/>
                    </a:lnL>
                    <a:lnR w="6350" cap="flat" cmpd="sng" algn="ctr">
                      <a:solidFill>
                        <a:srgbClr val="D5D9EC"/>
                      </a:solidFill>
                      <a:prstDash val="solid"/>
                      <a:round/>
                      <a:headEnd type="none" w="med" len="med"/>
                      <a:tailEnd type="none" w="med" len="med"/>
                    </a:lnR>
                    <a:lnT w="6350" cap="flat" cmpd="sng" algn="ctr">
                      <a:solidFill>
                        <a:srgbClr val="D5D9EC"/>
                      </a:solidFill>
                      <a:prstDash val="solid"/>
                      <a:round/>
                      <a:headEnd type="none" w="med" len="med"/>
                      <a:tailEnd type="none" w="med" len="med"/>
                    </a:lnT>
                    <a:lnB w="6350" cap="flat" cmpd="sng" algn="ctr">
                      <a:solidFill>
                        <a:srgbClr val="D5D9EC"/>
                      </a:solidFill>
                      <a:prstDash val="solid"/>
                      <a:round/>
                      <a:headEnd type="none" w="med" len="med"/>
                      <a:tailEnd type="none" w="med" len="med"/>
                    </a:lnB>
                    <a:solidFill>
                      <a:srgbClr val="FFFFFF"/>
                    </a:solidFill>
                  </a:tcPr>
                </a:tc>
                <a:tc>
                  <a:txBody>
                    <a:bodyPr/>
                    <a:lstStyle/>
                    <a:p>
                      <a:pPr marL="0" indent="0">
                        <a:buNone/>
                      </a:pPr>
                      <a:r>
                        <a:rPr lang="en-US" sz="1000" b="1" dirty="0">
                          <a:solidFill>
                            <a:srgbClr val="FF7A45"/>
                          </a:solidFill>
                          <a:latin typeface="Calibri" pitchFamily="34" charset="0"/>
                          <a:ea typeface="Calibri" pitchFamily="34" charset="-122"/>
                          <a:cs typeface="Calibri" pitchFamily="34" charset="-120"/>
                        </a:rPr>
                        <a:t>Objetivo (Y)</a:t>
                      </a:r>
                      <a:endParaRPr lang="en-US" sz="1000" dirty="0">
                        <a:latin typeface="Calibri" charset="0"/>
                        <a:ea typeface="Calibri" charset="0"/>
                        <a:cs typeface="Calibri" charset="0"/>
                      </a:endParaRPr>
                    </a:p>
                  </a:txBody>
                  <a:tcPr marL="54864" marR="54864" marT="54864" marB="54864" anchor="ctr">
                    <a:lnL w="6350" cap="flat" cmpd="sng" algn="ctr">
                      <a:solidFill>
                        <a:srgbClr val="D5D9EC"/>
                      </a:solidFill>
                      <a:prstDash val="solid"/>
                      <a:round/>
                      <a:headEnd type="none" w="med" len="med"/>
                      <a:tailEnd type="none" w="med" len="med"/>
                    </a:lnL>
                    <a:lnR w="6350" cap="flat" cmpd="sng" algn="ctr">
                      <a:solidFill>
                        <a:srgbClr val="D5D9EC"/>
                      </a:solidFill>
                      <a:prstDash val="solid"/>
                      <a:round/>
                      <a:headEnd type="none" w="med" len="med"/>
                      <a:tailEnd type="none" w="med" len="med"/>
                    </a:lnR>
                    <a:lnT w="6350" cap="flat" cmpd="sng" algn="ctr">
                      <a:solidFill>
                        <a:srgbClr val="D5D9EC"/>
                      </a:solidFill>
                      <a:prstDash val="solid"/>
                      <a:round/>
                      <a:headEnd type="none" w="med" len="med"/>
                      <a:tailEnd type="none" w="med" len="med"/>
                    </a:lnT>
                    <a:lnB w="6350" cap="flat" cmpd="sng" algn="ctr">
                      <a:solidFill>
                        <a:srgbClr val="D5D9EC"/>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94360" y="384048"/>
            <a:ext cx="7315200" cy="256032"/>
          </a:xfrm>
          <a:prstGeom prst="rect">
            <a:avLst/>
          </a:prstGeom>
          <a:noFill/>
          <a:ln/>
        </p:spPr>
        <p:txBody>
          <a:bodyPr wrap="square" lIns="0" tIns="0" rIns="0" bIns="0" rtlCol="0" anchor="ctr"/>
          <a:lstStyle/>
          <a:p>
            <a:pPr marL="0" indent="0">
              <a:buNone/>
            </a:pPr>
            <a:r>
              <a:rPr lang="en-US" sz="1100" kern="0" spc="120" dirty="0">
                <a:solidFill>
                  <a:srgbClr val="5A5E7A"/>
                </a:solidFill>
                <a:latin typeface="Calibri" pitchFamily="34" charset="0"/>
                <a:ea typeface="Calibri" pitchFamily="34" charset="-122"/>
                <a:cs typeface="Calibri" pitchFamily="34" charset="-120"/>
              </a:rPr>
              <a:t>AVANCE 1  ·  05</a:t>
            </a:r>
            <a:endParaRPr lang="en-US" sz="1100" dirty="0"/>
          </a:p>
        </p:txBody>
      </p:sp>
      <p:sp>
        <p:nvSpPr>
          <p:cNvPr id="3" name="Text 1"/>
          <p:cNvSpPr txBox="1"/>
          <p:nvPr/>
        </p:nvSpPr>
        <p:spPr>
          <a:xfrm>
            <a:off x="594360" y="658368"/>
            <a:ext cx="10515600" cy="640080"/>
          </a:xfrm>
          <a:prstGeom prst="rect">
            <a:avLst/>
          </a:prstGeom>
          <a:noFill/>
          <a:ln/>
        </p:spPr>
        <p:txBody>
          <a:bodyPr wrap="square" lIns="0" tIns="0" rIns="0" bIns="0" rtlCol="0" anchor="ctr"/>
          <a:lstStyle/>
          <a:p>
            <a:pPr marL="0" indent="0">
              <a:buNone/>
            </a:pPr>
            <a:r>
              <a:rPr lang="en-US" sz="3400" b="1" dirty="0">
                <a:solidFill>
                  <a:srgbClr val="14162E"/>
                </a:solidFill>
                <a:latin typeface="Cambria" pitchFamily="34" charset="0"/>
                <a:ea typeface="Cambria" pitchFamily="34" charset="-122"/>
                <a:cs typeface="Cambria" pitchFamily="34" charset="-120"/>
              </a:rPr>
              <a:t>¿Los datos permiten responder la pregunta?</a:t>
            </a:r>
            <a:endParaRPr lang="en-US" sz="3400" dirty="0"/>
          </a:p>
        </p:txBody>
      </p:sp>
      <p:sp>
        <p:nvSpPr>
          <p:cNvPr id="4" name="Shape 2"/>
          <p:cNvSpPr/>
          <p:nvPr/>
        </p:nvSpPr>
        <p:spPr>
          <a:xfrm>
            <a:off x="594360" y="1508760"/>
            <a:ext cx="438912" cy="438912"/>
          </a:xfrm>
          <a:prstGeom prst="ellipse">
            <a:avLst/>
          </a:prstGeom>
          <a:solidFill>
            <a:srgbClr val="4C5FD5"/>
          </a:solidFill>
          <a:ln w="12700">
            <a:solidFill>
              <a:srgbClr val="4C5FD5"/>
            </a:solidFill>
            <a:prstDash val="solid"/>
          </a:ln>
        </p:spPr>
        <p:txBody>
          <a:bodyPr/>
          <a:lstStyle/>
          <a:p>
            <a:endParaRPr lang="en-US"/>
          </a:p>
        </p:txBody>
      </p:sp>
      <p:sp>
        <p:nvSpPr>
          <p:cNvPr id="5" name="Text 3"/>
          <p:cNvSpPr txBox="1"/>
          <p:nvPr/>
        </p:nvSpPr>
        <p:spPr>
          <a:xfrm>
            <a:off x="594360" y="1508760"/>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X</a:t>
            </a:r>
            <a:endParaRPr lang="en-US" sz="1600" dirty="0"/>
          </a:p>
        </p:txBody>
      </p:sp>
      <p:sp>
        <p:nvSpPr>
          <p:cNvPr id="6" name="Text 4"/>
          <p:cNvSpPr txBox="1"/>
          <p:nvPr/>
        </p:nvSpPr>
        <p:spPr>
          <a:xfrm>
            <a:off x="1188720" y="1453896"/>
            <a:ext cx="4434840" cy="914400"/>
          </a:xfrm>
          <a:prstGeom prst="rect">
            <a:avLst/>
          </a:prstGeom>
          <a:noFill/>
          <a:ln/>
        </p:spPr>
        <p:txBody>
          <a:bodyPr wrap="square" lIns="0" tIns="0" rIns="0" bIns="0" rtlCol="0" anchor="t"/>
          <a:lstStyle/>
          <a:p>
            <a:pPr marL="0" indent="0">
              <a:lnSpc>
                <a:spcPts val="1800"/>
              </a:lnSpc>
              <a:buNone/>
            </a:pPr>
            <a:r>
              <a:rPr lang="en-US" sz="1250" dirty="0">
                <a:solidFill>
                  <a:srgbClr val="5A5E7A"/>
                </a:solidFill>
                <a:latin typeface="Calibri" pitchFamily="34" charset="0"/>
                <a:ea typeface="Calibri" pitchFamily="34" charset="-122"/>
                <a:cs typeface="Calibri" pitchFamily="34" charset="-120"/>
              </a:rPr>
              <a:t>9 variables numéricas de conducta digital y sueño + 3 categóricas de contexto (género, estrés, impacto académico o laboral).</a:t>
            </a:r>
            <a:endParaRPr lang="en-US" sz="1250" dirty="0"/>
          </a:p>
        </p:txBody>
      </p:sp>
      <p:sp>
        <p:nvSpPr>
          <p:cNvPr id="7" name="Shape 5"/>
          <p:cNvSpPr/>
          <p:nvPr/>
        </p:nvSpPr>
        <p:spPr>
          <a:xfrm>
            <a:off x="594360" y="2560320"/>
            <a:ext cx="438912" cy="438912"/>
          </a:xfrm>
          <a:prstGeom prst="ellipse">
            <a:avLst/>
          </a:prstGeom>
          <a:solidFill>
            <a:srgbClr val="FF7A45"/>
          </a:solidFill>
          <a:ln w="12700">
            <a:solidFill>
              <a:srgbClr val="FF7A45"/>
            </a:solidFill>
            <a:prstDash val="solid"/>
          </a:ln>
        </p:spPr>
        <p:txBody>
          <a:bodyPr/>
          <a:lstStyle/>
          <a:p>
            <a:endParaRPr lang="en-US"/>
          </a:p>
        </p:txBody>
      </p:sp>
      <p:sp>
        <p:nvSpPr>
          <p:cNvPr id="8" name="Text 6"/>
          <p:cNvSpPr txBox="1"/>
          <p:nvPr/>
        </p:nvSpPr>
        <p:spPr>
          <a:xfrm>
            <a:off x="594360" y="2560320"/>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Y</a:t>
            </a:r>
            <a:endParaRPr lang="en-US" sz="1600" dirty="0"/>
          </a:p>
        </p:txBody>
      </p:sp>
      <p:sp>
        <p:nvSpPr>
          <p:cNvPr id="9" name="Text 7"/>
          <p:cNvSpPr txBox="1"/>
          <p:nvPr/>
        </p:nvSpPr>
        <p:spPr>
          <a:xfrm>
            <a:off x="1188720" y="2505456"/>
            <a:ext cx="4434840" cy="914400"/>
          </a:xfrm>
          <a:prstGeom prst="rect">
            <a:avLst/>
          </a:prstGeom>
          <a:noFill/>
          <a:ln/>
        </p:spPr>
        <p:txBody>
          <a:bodyPr wrap="square" lIns="0" tIns="0" rIns="0" bIns="0" rtlCol="0" anchor="t"/>
          <a:lstStyle/>
          <a:p>
            <a:pPr marL="0" indent="0">
              <a:lnSpc>
                <a:spcPts val="1800"/>
              </a:lnSpc>
              <a:buNone/>
            </a:pPr>
            <a:r>
              <a:rPr lang="en-US" sz="1250" dirty="0">
                <a:solidFill>
                  <a:srgbClr val="5A5E7A"/>
                </a:solidFill>
                <a:latin typeface="Calibri" pitchFamily="34" charset="0"/>
                <a:ea typeface="Calibri" pitchFamily="34" charset="-122"/>
                <a:cs typeface="Calibri" pitchFamily="34" charset="-120"/>
              </a:rPr>
              <a:t>La columna addicted_label entrega directamente el objetivo, ya codificado como 0 / 1. No hay que construirlo.</a:t>
            </a:r>
            <a:endParaRPr lang="en-US" sz="1250" dirty="0"/>
          </a:p>
        </p:txBody>
      </p:sp>
      <p:sp>
        <p:nvSpPr>
          <p:cNvPr id="10" name="Shape 8"/>
          <p:cNvSpPr/>
          <p:nvPr/>
        </p:nvSpPr>
        <p:spPr>
          <a:xfrm>
            <a:off x="594360" y="3611880"/>
            <a:ext cx="438912" cy="438912"/>
          </a:xfrm>
          <a:prstGeom prst="ellipse">
            <a:avLst/>
          </a:prstGeom>
          <a:solidFill>
            <a:srgbClr val="2E9E8F"/>
          </a:solidFill>
          <a:ln w="12700">
            <a:solidFill>
              <a:srgbClr val="2E9E8F"/>
            </a:solidFill>
            <a:prstDash val="solid"/>
          </a:ln>
        </p:spPr>
        <p:txBody>
          <a:bodyPr/>
          <a:lstStyle/>
          <a:p>
            <a:endParaRPr lang="en-US"/>
          </a:p>
        </p:txBody>
      </p:sp>
      <p:sp>
        <p:nvSpPr>
          <p:cNvPr id="11" name="Text 9"/>
          <p:cNvSpPr txBox="1"/>
          <p:nvPr/>
        </p:nvSpPr>
        <p:spPr>
          <a:xfrm>
            <a:off x="594360" y="3611880"/>
            <a:ext cx="438912"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T</a:t>
            </a:r>
            <a:endParaRPr lang="en-US" sz="1600" dirty="0"/>
          </a:p>
        </p:txBody>
      </p:sp>
      <p:sp>
        <p:nvSpPr>
          <p:cNvPr id="12" name="Text 10"/>
          <p:cNvSpPr txBox="1"/>
          <p:nvPr/>
        </p:nvSpPr>
        <p:spPr>
          <a:xfrm>
            <a:off x="1188720" y="3557016"/>
            <a:ext cx="4434840" cy="914400"/>
          </a:xfrm>
          <a:prstGeom prst="rect">
            <a:avLst/>
          </a:prstGeom>
          <a:noFill/>
          <a:ln/>
        </p:spPr>
        <p:txBody>
          <a:bodyPr wrap="square" lIns="0" tIns="0" rIns="0" bIns="0" rtlCol="0" anchor="t"/>
          <a:lstStyle/>
          <a:p>
            <a:pPr marL="0" indent="0">
              <a:lnSpc>
                <a:spcPts val="1800"/>
              </a:lnSpc>
              <a:buNone/>
            </a:pPr>
            <a:r>
              <a:rPr lang="en-US" sz="1250" dirty="0">
                <a:solidFill>
                  <a:srgbClr val="5A5E7A"/>
                </a:solidFill>
                <a:latin typeface="Calibri" pitchFamily="34" charset="0"/>
                <a:ea typeface="Calibri" pitchFamily="34" charset="-122"/>
                <a:cs typeface="Calibri" pitchFamily="34" charset="-120"/>
              </a:rPr>
              <a:t>Se representa con el par daily_screen_time_hours / weekend_screen_time, que separa días hábiles de fin de semana dentro de una misma semana.</a:t>
            </a:r>
            <a:endParaRPr lang="en-US" sz="1250" dirty="0"/>
          </a:p>
        </p:txBody>
      </p:sp>
      <p:sp>
        <p:nvSpPr>
          <p:cNvPr id="13" name="Text 11"/>
          <p:cNvSpPr txBox="1"/>
          <p:nvPr/>
        </p:nvSpPr>
        <p:spPr>
          <a:xfrm>
            <a:off x="6035040" y="1463040"/>
            <a:ext cx="5577840" cy="274320"/>
          </a:xfrm>
          <a:prstGeom prst="rect">
            <a:avLst/>
          </a:prstGeom>
          <a:noFill/>
          <a:ln/>
        </p:spPr>
        <p:txBody>
          <a:bodyPr wrap="square" lIns="0" tIns="0" rIns="0" bIns="0" rtlCol="0" anchor="ctr"/>
          <a:lstStyle/>
          <a:p>
            <a:pPr marL="0" indent="0">
              <a:buNone/>
            </a:pPr>
            <a:r>
              <a:rPr lang="en-US" sz="1400" b="1" dirty="0">
                <a:solidFill>
                  <a:srgbClr val="14162E"/>
                </a:solidFill>
                <a:latin typeface="Calibri" pitchFamily="34" charset="0"/>
                <a:ea typeface="Calibri" pitchFamily="34" charset="-122"/>
                <a:cs typeface="Calibri" pitchFamily="34" charset="-120"/>
              </a:rPr>
              <a:t>Datos faltantes por variable (%)</a:t>
            </a:r>
            <a:endParaRPr lang="en-US" sz="1400" dirty="0"/>
          </a:p>
        </p:txBody>
      </p:sp>
      <p:graphicFrame>
        <p:nvGraphicFramePr>
          <p:cNvPr id="14" name="Chart 0"/>
          <p:cNvGraphicFramePr/>
          <p:nvPr/>
        </p:nvGraphicFramePr>
        <p:xfrm>
          <a:off x="5943600" y="1783080"/>
          <a:ext cx="5715000"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15" name="Shape 12"/>
          <p:cNvSpPr/>
          <p:nvPr/>
        </p:nvSpPr>
        <p:spPr>
          <a:xfrm>
            <a:off x="594360" y="4892040"/>
            <a:ext cx="10972800" cy="1417320"/>
          </a:xfrm>
          <a:prstGeom prst="roundRect">
            <a:avLst>
              <a:gd name="adj" fmla="val 5161"/>
            </a:avLst>
          </a:prstGeom>
          <a:solidFill>
            <a:srgbClr val="FFF1EA"/>
          </a:solidFill>
          <a:ln w="12700">
            <a:solidFill>
              <a:srgbClr val="FFF1EA"/>
            </a:solidFill>
            <a:prstDash val="solid"/>
          </a:ln>
        </p:spPr>
        <p:txBody>
          <a:bodyPr/>
          <a:lstStyle/>
          <a:p>
            <a:endParaRPr lang="en-US"/>
          </a:p>
        </p:txBody>
      </p:sp>
      <p:sp>
        <p:nvSpPr>
          <p:cNvPr id="16" name="Text 13"/>
          <p:cNvSpPr txBox="1"/>
          <p:nvPr/>
        </p:nvSpPr>
        <p:spPr>
          <a:xfrm>
            <a:off x="868680" y="5029200"/>
            <a:ext cx="5486400" cy="274320"/>
          </a:xfrm>
          <a:prstGeom prst="rect">
            <a:avLst/>
          </a:prstGeom>
          <a:noFill/>
          <a:ln/>
        </p:spPr>
        <p:txBody>
          <a:bodyPr wrap="square" lIns="0" tIns="0" rIns="0" bIns="0" rtlCol="0" anchor="ctr"/>
          <a:lstStyle/>
          <a:p>
            <a:pPr marL="0" indent="0">
              <a:buNone/>
            </a:pPr>
            <a:r>
              <a:rPr lang="en-US" sz="1350" b="1" dirty="0">
                <a:solidFill>
                  <a:srgbClr val="14162E"/>
                </a:solidFill>
                <a:latin typeface="Calibri" pitchFamily="34" charset="0"/>
                <a:ea typeface="Calibri" pitchFamily="34" charset="-122"/>
                <a:cs typeface="Calibri" pitchFamily="34" charset="-120"/>
              </a:rPr>
              <a:t>Limitaciones que ya reconocemos</a:t>
            </a:r>
            <a:endParaRPr lang="en-US" sz="1350" dirty="0"/>
          </a:p>
        </p:txBody>
      </p:sp>
      <p:sp>
        <p:nvSpPr>
          <p:cNvPr id="17" name="Text 14"/>
          <p:cNvSpPr txBox="1"/>
          <p:nvPr/>
        </p:nvSpPr>
        <p:spPr>
          <a:xfrm>
            <a:off x="868680" y="5349240"/>
            <a:ext cx="10424160" cy="868680"/>
          </a:xfrm>
          <a:prstGeom prst="rect">
            <a:avLst/>
          </a:prstGeom>
          <a:noFill/>
          <a:ln/>
        </p:spPr>
        <p:txBody>
          <a:bodyPr wrap="square" lIns="0" tIns="0" rIns="0" bIns="0" rtlCol="0" anchor="ctr"/>
          <a:lstStyle/>
          <a:p>
            <a:pPr marL="342900" indent="-342900">
              <a:spcAft>
                <a:spcPts val="300"/>
              </a:spcAft>
              <a:buSzPct val="100000"/>
              <a:buChar char="•"/>
            </a:pPr>
            <a:r>
              <a:rPr lang="en-US" sz="1150" dirty="0">
                <a:solidFill>
                  <a:srgbClr val="5A5E7A"/>
                </a:solidFill>
                <a:latin typeface="Calibri" pitchFamily="34" charset="0"/>
                <a:ea typeface="Calibri" pitchFamily="34" charset="-122"/>
                <a:cs typeface="Calibri" pitchFamily="34" charset="-120"/>
              </a:rPr>
              <a:t>Sin marca temporal real: no se puede estudiar evolución ni anticipar el comportamiento futuro de una persona.</a:t>
            </a:r>
            <a:endParaRPr lang="en-US" sz="1150" dirty="0"/>
          </a:p>
          <a:p>
            <a:pPr marL="342900" indent="-342900">
              <a:spcAft>
                <a:spcPts val="300"/>
              </a:spcAft>
              <a:buSzPct val="100000"/>
              <a:buChar char="•"/>
            </a:pPr>
            <a:r>
              <a:rPr lang="en-US" sz="1150" dirty="0">
                <a:solidFill>
                  <a:srgbClr val="5A5E7A"/>
                </a:solidFill>
                <a:latin typeface="Calibri" pitchFamily="34" charset="0"/>
                <a:ea typeface="Calibri" pitchFamily="34" charset="-122"/>
                <a:cs typeface="Calibri" pitchFamily="34" charset="-120"/>
              </a:rPr>
              <a:t>Solo el 38,7% de las filas está completo; toda variable tiene entre 4% y 19% de datos faltantes.</a:t>
            </a:r>
            <a:endParaRPr lang="en-US" sz="1150" dirty="0"/>
          </a:p>
          <a:p>
            <a:pPr marL="342900" indent="-342900">
              <a:spcAft>
                <a:spcPts val="300"/>
              </a:spcAft>
              <a:buSzPct val="100000"/>
              <a:buChar char="•"/>
            </a:pPr>
            <a:r>
              <a:rPr lang="en-US" sz="1150" dirty="0">
                <a:solidFill>
                  <a:srgbClr val="5A5E7A"/>
                </a:solidFill>
                <a:latin typeface="Calibri" pitchFamily="34" charset="0"/>
                <a:ea typeface="Calibri" pitchFamily="34" charset="-122"/>
                <a:cs typeface="Calibri" pitchFamily="34" charset="-120"/>
              </a:rPr>
              <a:t>Clases desbalanceadas (71% / 29%) y etiqueta ausente en 296.302 filas, que quedan como conjunto sin supervisión.</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62E"/>
        </a:solidFill>
        <a:effectLst/>
      </p:bgPr>
    </p:bg>
    <p:spTree>
      <p:nvGrpSpPr>
        <p:cNvPr id="1" name=""/>
        <p:cNvGrpSpPr/>
        <p:nvPr/>
      </p:nvGrpSpPr>
      <p:grpSpPr>
        <a:xfrm>
          <a:off x="0" y="0"/>
          <a:ext cx="0" cy="0"/>
          <a:chOff x="0" y="0"/>
          <a:chExt cx="0" cy="0"/>
        </a:xfrm>
      </p:grpSpPr>
      <p:sp>
        <p:nvSpPr>
          <p:cNvPr id="2" name="Text 0"/>
          <p:cNvSpPr txBox="1"/>
          <p:nvPr/>
        </p:nvSpPr>
        <p:spPr>
          <a:xfrm>
            <a:off x="594360" y="384048"/>
            <a:ext cx="7315200" cy="256032"/>
          </a:xfrm>
          <a:prstGeom prst="rect">
            <a:avLst/>
          </a:prstGeom>
          <a:noFill/>
          <a:ln/>
        </p:spPr>
        <p:txBody>
          <a:bodyPr wrap="square" lIns="0" tIns="0" rIns="0" bIns="0" rtlCol="0" anchor="ctr"/>
          <a:lstStyle/>
          <a:p>
            <a:pPr marL="0" indent="0">
              <a:buNone/>
            </a:pPr>
            <a:r>
              <a:rPr lang="en-US" sz="1100" kern="0" spc="120" dirty="0">
                <a:solidFill>
                  <a:srgbClr val="9AA0C4"/>
                </a:solidFill>
                <a:latin typeface="Calibri" pitchFamily="34" charset="0"/>
                <a:ea typeface="Calibri" pitchFamily="34" charset="-122"/>
                <a:cs typeface="Calibri" pitchFamily="34" charset="-120"/>
              </a:rPr>
              <a:t>AVANCE 1  ·  06</a:t>
            </a:r>
            <a:endParaRPr lang="en-US" sz="1100" dirty="0"/>
          </a:p>
        </p:txBody>
      </p:sp>
      <p:sp>
        <p:nvSpPr>
          <p:cNvPr id="3" name="Text 1"/>
          <p:cNvSpPr txBox="1"/>
          <p:nvPr/>
        </p:nvSpPr>
        <p:spPr>
          <a:xfrm>
            <a:off x="594360" y="658368"/>
            <a:ext cx="10515600" cy="64008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Organización del proyecto</a:t>
            </a:r>
            <a:endParaRPr lang="en-US" sz="3400" dirty="0"/>
          </a:p>
        </p:txBody>
      </p:sp>
      <p:sp>
        <p:nvSpPr>
          <p:cNvPr id="4" name="Shape 2"/>
          <p:cNvSpPr/>
          <p:nvPr/>
        </p:nvSpPr>
        <p:spPr>
          <a:xfrm>
            <a:off x="594360" y="1554480"/>
            <a:ext cx="5257800" cy="3291840"/>
          </a:xfrm>
          <a:prstGeom prst="roundRect">
            <a:avLst>
              <a:gd name="adj" fmla="val 1951"/>
            </a:avLst>
          </a:prstGeom>
          <a:solidFill>
            <a:srgbClr val="242847"/>
          </a:solidFill>
          <a:ln w="12700">
            <a:solidFill>
              <a:srgbClr val="242847"/>
            </a:solidFill>
            <a:prstDash val="solid"/>
          </a:ln>
        </p:spPr>
        <p:txBody>
          <a:bodyPr/>
          <a:lstStyle/>
          <a:p>
            <a:endParaRPr lang="en-US"/>
          </a:p>
        </p:txBody>
      </p:sp>
      <p:sp>
        <p:nvSpPr>
          <p:cNvPr id="5" name="Text 3"/>
          <p:cNvSpPr txBox="1"/>
          <p:nvPr/>
        </p:nvSpPr>
        <p:spPr>
          <a:xfrm>
            <a:off x="914400" y="1783080"/>
            <a:ext cx="4663440" cy="292608"/>
          </a:xfrm>
          <a:prstGeom prst="rect">
            <a:avLst/>
          </a:prstGeom>
          <a:noFill/>
          <a:ln/>
        </p:spPr>
        <p:txBody>
          <a:bodyPr wrap="square" lIns="0" tIns="0" rIns="0" bIns="0" rtlCol="0" anchor="ctr"/>
          <a:lstStyle/>
          <a:p>
            <a:r>
              <a:rPr lang="en-US" sz="1300" b="1" dirty="0">
                <a:solidFill>
                  <a:srgbClr val="FF7A45"/>
                </a:solidFill>
                <a:latin typeface="Calibri" pitchFamily="34" charset="0"/>
                <a:ea typeface="Calibri" pitchFamily="34" charset="-122"/>
                <a:cs typeface="Calibri" pitchFamily="34" charset="-120"/>
              </a:rPr>
              <a:t>github.com/Nervots2/CD-2026-Proyecto-Equipo99</a:t>
            </a:r>
            <a:endParaRPr lang="en-US" sz="1300" dirty="0"/>
          </a:p>
        </p:txBody>
      </p:sp>
      <p:sp>
        <p:nvSpPr>
          <p:cNvPr id="6" name="Text 4"/>
          <p:cNvSpPr txBox="1"/>
          <p:nvPr/>
        </p:nvSpPr>
        <p:spPr>
          <a:xfrm>
            <a:off x="914400" y="2240280"/>
            <a:ext cx="4663440" cy="3291840"/>
          </a:xfrm>
          <a:prstGeom prst="rect">
            <a:avLst/>
          </a:prstGeom>
          <a:noFill/>
          <a:ln/>
        </p:spPr>
        <p:txBody>
          <a:bodyPr wrap="square" lIns="0" tIns="0" rIns="0" bIns="0" rtlCol="0" anchor="t"/>
          <a:lstStyle/>
          <a:p>
            <a:pPr marL="0" indent="0">
              <a:lnSpc>
                <a:spcPts val="1900"/>
              </a:lnSpc>
              <a:buNone/>
            </a:pPr>
            <a:r>
              <a:rPr lang="en-US" sz="1100" dirty="0">
                <a:solidFill>
                  <a:srgbClr val="D8DCF2"/>
                </a:solidFill>
                <a:latin typeface="Courier New" pitchFamily="34" charset="0"/>
                <a:ea typeface="Courier New" pitchFamily="34" charset="-122"/>
                <a:cs typeface="Courier New" pitchFamily="34" charset="-120"/>
              </a:rPr>
              <a:t>huella-digital/</a:t>
            </a:r>
            <a:endParaRPr lang="en-US" sz="1100" dirty="0"/>
          </a:p>
          <a:p>
            <a:pPr marL="0" indent="0">
              <a:lnSpc>
                <a:spcPts val="1900"/>
              </a:lnSpc>
              <a:buNone/>
            </a:pPr>
            <a:r>
              <a:rPr lang="en-US" sz="1100" dirty="0">
                <a:solidFill>
                  <a:srgbClr val="D8DCF2"/>
                </a:solidFill>
                <a:latin typeface="Courier New" pitchFamily="34" charset="0"/>
                <a:ea typeface="Courier New" pitchFamily="34" charset="-122"/>
                <a:cs typeface="Courier New" pitchFamily="34" charset="-120"/>
              </a:rPr>
              <a:t>|-- data/</a:t>
            </a:r>
            <a:endParaRPr lang="en-US" sz="1100" dirty="0"/>
          </a:p>
          <a:p>
            <a:pPr marL="0" indent="0">
              <a:lnSpc>
                <a:spcPts val="1900"/>
              </a:lnSpc>
              <a:buNone/>
            </a:pPr>
            <a:r>
              <a:rPr lang="en-US" sz="1100" dirty="0">
                <a:solidFill>
                  <a:srgbClr val="D8DCF2"/>
                </a:solidFill>
                <a:latin typeface="Courier New" pitchFamily="34" charset="0"/>
                <a:ea typeface="Courier New" pitchFamily="34" charset="-122"/>
                <a:cs typeface="Courier New" pitchFamily="34" charset="-120"/>
              </a:rPr>
              <a:t>|   |-- raw/          train.csv, test.csv</a:t>
            </a:r>
            <a:endParaRPr lang="en-US" sz="1100" dirty="0"/>
          </a:p>
          <a:p>
            <a:pPr marL="0" indent="0">
              <a:lnSpc>
                <a:spcPts val="1900"/>
              </a:lnSpc>
              <a:buNone/>
            </a:pPr>
            <a:r>
              <a:rPr lang="en-US" sz="1100" dirty="0">
                <a:solidFill>
                  <a:srgbClr val="D8DCF2"/>
                </a:solidFill>
                <a:latin typeface="Courier New" pitchFamily="34" charset="0"/>
                <a:ea typeface="Courier New" pitchFamily="34" charset="-122"/>
                <a:cs typeface="Courier New" pitchFamily="34" charset="-120"/>
              </a:rPr>
              <a:t>|   '-- processed/    combined.csv</a:t>
            </a:r>
            <a:endParaRPr lang="en-US" sz="1100" dirty="0"/>
          </a:p>
          <a:p>
            <a:pPr marL="0" indent="0">
              <a:lnSpc>
                <a:spcPts val="1900"/>
              </a:lnSpc>
              <a:buNone/>
            </a:pPr>
            <a:r>
              <a:rPr lang="en-US" sz="1100" dirty="0">
                <a:solidFill>
                  <a:srgbClr val="D8DCF2"/>
                </a:solidFill>
                <a:latin typeface="Courier New" pitchFamily="34" charset="0"/>
                <a:ea typeface="Courier New" pitchFamily="34" charset="-122"/>
                <a:cs typeface="Courier New" pitchFamily="34" charset="-120"/>
              </a:rPr>
              <a:t>|-- notebooks/</a:t>
            </a:r>
            <a:endParaRPr lang="en-US" sz="1100" dirty="0"/>
          </a:p>
          <a:p>
            <a:pPr marL="0" indent="0">
              <a:lnSpc>
                <a:spcPts val="1900"/>
              </a:lnSpc>
              <a:buNone/>
            </a:pPr>
            <a:r>
              <a:rPr lang="en-US" sz="1100" dirty="0">
                <a:solidFill>
                  <a:srgbClr val="D8DCF2"/>
                </a:solidFill>
                <a:latin typeface="Courier New" pitchFamily="34" charset="0"/>
                <a:ea typeface="Courier New" pitchFamily="34" charset="-122"/>
                <a:cs typeface="Courier New" pitchFamily="34" charset="-120"/>
              </a:rPr>
              <a:t>|-- src/              funciones reutilizables</a:t>
            </a:r>
            <a:endParaRPr lang="en-US" sz="1100" dirty="0"/>
          </a:p>
          <a:p>
            <a:pPr marL="0" indent="0">
              <a:lnSpc>
                <a:spcPts val="1900"/>
              </a:lnSpc>
              <a:buNone/>
            </a:pPr>
            <a:r>
              <a:rPr lang="en-US" sz="1100" dirty="0">
                <a:solidFill>
                  <a:srgbClr val="D8DCF2"/>
                </a:solidFill>
                <a:latin typeface="Courier New" pitchFamily="34" charset="0"/>
                <a:ea typeface="Courier New" pitchFamily="34" charset="-122"/>
                <a:cs typeface="Courier New" pitchFamily="34" charset="-120"/>
              </a:rPr>
              <a:t>|-- figures/          gráficos del informe</a:t>
            </a:r>
            <a:endParaRPr lang="en-US" sz="1100" dirty="0"/>
          </a:p>
          <a:p>
            <a:pPr marL="0" indent="0">
              <a:lnSpc>
                <a:spcPts val="1900"/>
              </a:lnSpc>
              <a:buNone/>
            </a:pPr>
            <a:r>
              <a:rPr lang="en-US" sz="1100" dirty="0">
                <a:solidFill>
                  <a:srgbClr val="D8DCF2"/>
                </a:solidFill>
                <a:latin typeface="Courier New" pitchFamily="34" charset="0"/>
                <a:ea typeface="Courier New" pitchFamily="34" charset="-122"/>
                <a:cs typeface="Courier New" pitchFamily="34" charset="-120"/>
              </a:rPr>
              <a:t>|-- docs/             avances y presentaciones</a:t>
            </a:r>
            <a:endParaRPr lang="en-US" sz="1100" dirty="0"/>
          </a:p>
          <a:p>
            <a:pPr marL="0" indent="0">
              <a:lnSpc>
                <a:spcPts val="1900"/>
              </a:lnSpc>
              <a:buNone/>
            </a:pPr>
            <a:r>
              <a:rPr lang="en-US" sz="1100" dirty="0">
                <a:solidFill>
                  <a:srgbClr val="D8DCF2"/>
                </a:solidFill>
                <a:latin typeface="Courier New" pitchFamily="34" charset="0"/>
                <a:ea typeface="Courier New" pitchFamily="34" charset="-122"/>
                <a:cs typeface="Courier New" pitchFamily="34" charset="-120"/>
              </a:rPr>
              <a:t>'-- README.md</a:t>
            </a:r>
            <a:endParaRPr lang="en-US" sz="1100" dirty="0"/>
          </a:p>
        </p:txBody>
      </p:sp>
      <p:sp>
        <p:nvSpPr>
          <p:cNvPr id="8" name="Shape 6"/>
          <p:cNvSpPr/>
          <p:nvPr/>
        </p:nvSpPr>
        <p:spPr>
          <a:xfrm>
            <a:off x="594360" y="5367528"/>
            <a:ext cx="146304" cy="146304"/>
          </a:xfrm>
          <a:prstGeom prst="ellipse">
            <a:avLst/>
          </a:prstGeom>
          <a:solidFill>
            <a:srgbClr val="FF7A45"/>
          </a:solidFill>
          <a:ln w="12700">
            <a:solidFill>
              <a:srgbClr val="FF7A45"/>
            </a:solidFill>
            <a:prstDash val="solid"/>
          </a:ln>
        </p:spPr>
        <p:txBody>
          <a:bodyPr/>
          <a:lstStyle/>
          <a:p>
            <a:endParaRPr lang="en-US"/>
          </a:p>
        </p:txBody>
      </p:sp>
      <p:sp>
        <p:nvSpPr>
          <p:cNvPr id="9" name="Text 7"/>
          <p:cNvSpPr txBox="1"/>
          <p:nvPr/>
        </p:nvSpPr>
        <p:spPr>
          <a:xfrm>
            <a:off x="914400" y="5257800"/>
            <a:ext cx="484632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Ahora</a:t>
            </a:r>
            <a:endParaRPr lang="en-US" sz="1300" dirty="0"/>
          </a:p>
        </p:txBody>
      </p:sp>
      <p:sp>
        <p:nvSpPr>
          <p:cNvPr id="10" name="Text 8"/>
          <p:cNvSpPr txBox="1"/>
          <p:nvPr/>
        </p:nvSpPr>
        <p:spPr>
          <a:xfrm>
            <a:off x="914400" y="5586984"/>
            <a:ext cx="4846320" cy="566928"/>
          </a:xfrm>
          <a:prstGeom prst="rect">
            <a:avLst/>
          </a:prstGeom>
          <a:noFill/>
          <a:ln/>
        </p:spPr>
        <p:txBody>
          <a:bodyPr wrap="square" lIns="0" tIns="0" rIns="0" bIns="0" rtlCol="0" anchor="t"/>
          <a:lstStyle/>
          <a:p>
            <a:pPr marL="0" indent="0">
              <a:lnSpc>
                <a:spcPts val="1600"/>
              </a:lnSpc>
              <a:buNone/>
            </a:pPr>
            <a:r>
              <a:rPr lang="en-US" sz="1150" dirty="0">
                <a:solidFill>
                  <a:srgbClr val="B9BFE0"/>
                </a:solidFill>
                <a:latin typeface="Calibri" pitchFamily="34" charset="0"/>
                <a:ea typeface="Calibri" pitchFamily="34" charset="-122"/>
                <a:cs typeface="Calibri" pitchFamily="34" charset="-120"/>
              </a:rPr>
              <a:t>Repositorio creado, datos descargados y unificados, pregunta formulada.</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50</TotalTime>
  <Words>1135</Words>
  <Application>Microsoft Office PowerPoint</Application>
  <PresentationFormat>Panorámica</PresentationFormat>
  <Paragraphs>133</Paragraphs>
  <Slides>6</Slides>
  <Notes>6</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6</vt:i4>
      </vt:variant>
    </vt:vector>
  </HeadingPairs>
  <TitlesOfParts>
    <vt:vector size="11" baseType="lpstr">
      <vt:lpstr>Arial</vt:lpstr>
      <vt:lpstr>Calibri</vt:lpstr>
      <vt:lpstr>Cambria</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Huella Digital - Avance 1</dc:title>
  <dc:subject>PptxGenJS Presentation</dc:subject>
  <dc:creator>Proyecto Ciencia de Datos 2026</dc:creator>
  <cp:lastModifiedBy>Javier Andrade Narvaez (Alumno)</cp:lastModifiedBy>
  <cp:revision>2</cp:revision>
  <dcterms:created xsi:type="dcterms:W3CDTF">2026-08-31T01:35:46Z</dcterms:created>
  <dcterms:modified xsi:type="dcterms:W3CDTF">2026-08-31T02:27:43Z</dcterms:modified>
</cp:coreProperties>
</file>